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sldIdLst>
    <p:sldId id="256" r:id="rId2"/>
    <p:sldId id="359" r:id="rId3"/>
    <p:sldId id="370" r:id="rId4"/>
    <p:sldId id="357" r:id="rId5"/>
    <p:sldId id="360" r:id="rId6"/>
    <p:sldId id="361" r:id="rId7"/>
    <p:sldId id="362" r:id="rId8"/>
    <p:sldId id="358" r:id="rId9"/>
    <p:sldId id="363" r:id="rId10"/>
    <p:sldId id="364" r:id="rId11"/>
    <p:sldId id="365" r:id="rId12"/>
    <p:sldId id="366" r:id="rId13"/>
    <p:sldId id="367" r:id="rId14"/>
    <p:sldId id="369" r:id="rId15"/>
    <p:sldId id="368" r:id="rId16"/>
    <p:sldId id="371" r:id="rId17"/>
    <p:sldId id="372" r:id="rId18"/>
    <p:sldId id="373" r:id="rId19"/>
    <p:sldId id="374" r:id="rId20"/>
    <p:sldId id="375" r:id="rId21"/>
    <p:sldId id="376" r:id="rId22"/>
    <p:sldId id="377" r:id="rId23"/>
    <p:sldId id="378" r:id="rId24"/>
    <p:sldId id="379" r:id="rId25"/>
    <p:sldId id="380" r:id="rId26"/>
    <p:sldId id="381" r:id="rId27"/>
    <p:sldId id="382" r:id="rId28"/>
    <p:sldId id="383" r:id="rId29"/>
    <p:sldId id="384" r:id="rId30"/>
    <p:sldId id="385" r:id="rId31"/>
    <p:sldId id="386" r:id="rId32"/>
    <p:sldId id="387" r:id="rId33"/>
    <p:sldId id="388" r:id="rId34"/>
    <p:sldId id="277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98566" autoAdjust="0"/>
  </p:normalViewPr>
  <p:slideViewPr>
    <p:cSldViewPr snapToGrid="0" snapToObjects="1">
      <p:cViewPr varScale="1">
        <p:scale>
          <a:sx n="82" d="100"/>
          <a:sy n="82" d="100"/>
        </p:scale>
        <p:origin x="850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E13DDF-8C9F-41ED-BCA0-DFAC852E1B28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1CEC4-8705-463B-9A79-B2018D53849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4630E-50CB-41D4-B880-9F9D7FA7BA29}" type="datetime1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78885" y="444729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378885" y="1906543"/>
            <a:ext cx="11435164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1788" y="449005"/>
            <a:ext cx="10411968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4940" y="1532427"/>
            <a:ext cx="10338816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378885" y="6227064"/>
            <a:ext cx="11432116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7627" y="441783"/>
            <a:ext cx="1572257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78885" y="455774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8" name="Group 7"/>
          <p:cNvGrpSpPr/>
          <p:nvPr/>
        </p:nvGrpSpPr>
        <p:grpSpPr>
          <a:xfrm>
            <a:off x="378885" y="1577848"/>
            <a:ext cx="11435164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E53B5-49FB-46D3-8DDC-FF194BFECA44}" type="datetime1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78885" y="444729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B3357-3270-44AD-8313-0626A2642B80}" type="datetime1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78883" y="2017059"/>
            <a:ext cx="11432116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9894" y="1532965"/>
            <a:ext cx="10339045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378885" y="1906543"/>
            <a:ext cx="11435164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10974519" y="444729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8178" y="444729"/>
            <a:ext cx="10414623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78885" y="4801576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78885" y="6263390"/>
            <a:ext cx="11435164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10974519" y="4801576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024" y="4814125"/>
            <a:ext cx="103632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984" y="5861304"/>
            <a:ext cx="10314432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F85F5-738C-480D-8B46-1B1B3DA4FF26}" type="datetime1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78883" y="443755"/>
            <a:ext cx="11432116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20414-9D97-4B74-A477-A764E0D269A0}" type="datetime1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78885" y="4801576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378885" y="6263390"/>
            <a:ext cx="11435164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0974519" y="4801576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41" y="4814048"/>
            <a:ext cx="103632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7530" y="5862918"/>
            <a:ext cx="10309412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78885" y="455774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9" name="Group 8"/>
          <p:cNvGrpSpPr/>
          <p:nvPr/>
        </p:nvGrpSpPr>
        <p:grpSpPr>
          <a:xfrm>
            <a:off x="378885" y="1577848"/>
            <a:ext cx="11435164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7883" y="2151063"/>
            <a:ext cx="524256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917" y="2151063"/>
            <a:ext cx="524256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5F015-530B-454C-ADA2-7F2157207175}" type="datetime1">
              <a:rPr lang="en-US" smtClean="0"/>
              <a:pPr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78885" y="455774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11" name="Group 10"/>
          <p:cNvGrpSpPr/>
          <p:nvPr/>
        </p:nvGrpSpPr>
        <p:grpSpPr>
          <a:xfrm>
            <a:off x="378885" y="1577848"/>
            <a:ext cx="11435164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883" y="1735138"/>
            <a:ext cx="524256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883" y="2590800"/>
            <a:ext cx="524256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2660" y="1735138"/>
            <a:ext cx="524256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2660" y="2590800"/>
            <a:ext cx="524256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8430-5DBF-4BDF-AAA2-FD9FC4A2D81F}" type="datetime1">
              <a:rPr lang="en-US" smtClean="0"/>
              <a:pPr/>
              <a:t>11/1/2025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78885" y="455774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7" name="Group 6"/>
          <p:cNvGrpSpPr/>
          <p:nvPr/>
        </p:nvGrpSpPr>
        <p:grpSpPr>
          <a:xfrm>
            <a:off x="378885" y="1577848"/>
            <a:ext cx="11435164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C2E2-3F23-42C1-AFF2-4509F057067A}" type="datetime1">
              <a:rPr lang="en-US" smtClean="0"/>
              <a:pPr/>
              <a:t>11/1/2025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D1CE5-8CD7-468E-85A4-78CEAD3625E5}" type="datetime1">
              <a:rPr lang="en-US" smtClean="0"/>
              <a:pPr/>
              <a:t>11/1/2025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378885" y="452719"/>
            <a:ext cx="982028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9166" y="55844"/>
            <a:ext cx="1705548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588" y="1298762"/>
            <a:ext cx="542544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78089" y="914401"/>
            <a:ext cx="542544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588" y="2456329"/>
            <a:ext cx="542544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ADB23-474F-49A8-A23D-7A0E84AD2BE6}" type="datetime1">
              <a:rPr lang="en-US" smtClean="0"/>
              <a:pPr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378885" y="452719"/>
            <a:ext cx="11435164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78885" y="4801576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78885" y="6263390"/>
            <a:ext cx="11435164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095" y="4800600"/>
            <a:ext cx="11146989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78884" y="457199"/>
            <a:ext cx="11436096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8799" y="5367338"/>
            <a:ext cx="11072284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55E30-D25B-4216-A7A0-BE8AD9B7E327}" type="datetime1">
              <a:rPr lang="en-US" smtClean="0"/>
              <a:pPr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378885" y="4280648"/>
            <a:ext cx="11435164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095" y="4778189"/>
            <a:ext cx="11146989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78884" y="457200"/>
            <a:ext cx="11436096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8799" y="5344927"/>
            <a:ext cx="11072284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8EFD5-F0AF-4965-A66C-E35F81ABEC91}" type="datetime1">
              <a:rPr lang="en-US" smtClean="0"/>
              <a:pPr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1" y="914401"/>
            <a:ext cx="6926729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4A2D2-B87B-4847-9811-8BF83A23C0A4}" type="datetime1">
              <a:rPr lang="en-US" smtClean="0"/>
              <a:pPr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78884" y="4267201"/>
            <a:ext cx="36576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8802" y="4953001"/>
            <a:ext cx="3296023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686" y="4419600"/>
            <a:ext cx="3300527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378885" y="594360"/>
            <a:ext cx="36576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378885" y="461683"/>
            <a:ext cx="11435164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028018" y="4801576"/>
            <a:ext cx="7782983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78885" y="6263390"/>
            <a:ext cx="11435164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2215" y="4800600"/>
            <a:ext cx="7588868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28019" y="457199"/>
            <a:ext cx="7778496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074" y="5367338"/>
            <a:ext cx="7538009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62871-21BD-4EDE-AE57-59E17BF237ED}" type="datetime1">
              <a:rPr lang="en-US" smtClean="0"/>
              <a:pPr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378886" y="457200"/>
            <a:ext cx="3649133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378886" y="3364992"/>
            <a:ext cx="3649133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78885" y="455774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8" name="Group 7"/>
          <p:cNvGrpSpPr/>
          <p:nvPr/>
        </p:nvGrpSpPr>
        <p:grpSpPr>
          <a:xfrm>
            <a:off x="378885" y="1577848"/>
            <a:ext cx="11435164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885" y="2133600"/>
            <a:ext cx="11432116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F78AD-1CB0-4608-B3A1-669F93264AC6}" type="datetime1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8074279" y="2668544"/>
            <a:ext cx="5934615" cy="1511932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0165" y="473076"/>
            <a:ext cx="1292352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885" y="457200"/>
            <a:ext cx="8663516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542CD-9A58-4A2A-A626-496AF398B07A}" type="datetime1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7200708" y="3332822"/>
            <a:ext cx="5934456" cy="183215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75338" y="2133601"/>
            <a:ext cx="9435663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59915" y="643703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54EAB5B0-AB84-48D4-BAFB-665F1E7B35E0}" type="datetime1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6264" y="6437033"/>
            <a:ext cx="81665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5279" y="167347"/>
            <a:ext cx="840828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8885" y="630382"/>
            <a:ext cx="11432116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AIUB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0206" y="1532427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 b="1" dirty="0"/>
              <a:t>CSC5307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600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993359"/>
              </p:ext>
            </p:extLst>
          </p:nvPr>
        </p:nvGraphicFramePr>
        <p:xfrm>
          <a:off x="2000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Summer 24-25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Instructor: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b="1" i="1" dirty="0"/>
                        <a:t>M Shamim Kaiser (m.shamimkaiser@outlook.com)</a:t>
                      </a:r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4844579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</a:t>
            </a:r>
            <a:r>
              <a:rPr lang="en-US" b="1" dirty="0"/>
              <a:t>Data Warehousing &amp; Data Mining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84793-05C2-E3CA-A50D-BF81D7636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F9851-281D-A0E9-4E72-D47827492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Course Learning Outcomes (CLOs)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59E11-7B17-6E2E-4211-903AECAB3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86" y="2133601"/>
            <a:ext cx="11432116" cy="3992563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dirty="0"/>
              <a:t>Upon successful completion of this course, students will be able to: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dirty="0"/>
              <a:t>CLO1: Explain fundamental concepts, tasks, and challenges of data mining. (Cognitive: Understand)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dirty="0"/>
              <a:t>CLO2: Apply efficient data preprocessing and reduction techniques on large datasets. (Cognitive/Psychomotor: Apply)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dirty="0"/>
              <a:t>CLO3: Analyze data using classification, clustering, and association rule mining algorithms (Cognitive: Analyze) 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dirty="0"/>
              <a:t>CLO4 Evaluate and compare different data mining algorithms for performance and scalability (Cognitive: Evaluate)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dirty="0"/>
              <a:t>CLO5 Design and implement data mining solutions for real-world datasets using appropriate tools. (Cognitive / Psychomotor: Create)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B6F05-F53D-E38A-C93E-2E4FFB3C0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937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0A54E-63BF-6299-D5F6-D2A7377EB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094FA-C1A3-3A3B-8A58-CB6BFBE0E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Schedule of Midterm Weeks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1441B-C281-8C97-C169-6481A5E94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86" y="2133601"/>
            <a:ext cx="11432116" cy="3992563"/>
          </a:xfrm>
        </p:spPr>
        <p:txBody>
          <a:bodyPr>
            <a:normAutofit/>
          </a:bodyPr>
          <a:lstStyle/>
          <a:p>
            <a:pPr marL="274320" indent="-274320">
              <a:spcBef>
                <a:spcPts val="600"/>
              </a:spcBef>
              <a:buClr>
                <a:srgbClr val="C00000"/>
              </a:buClr>
              <a:buFont typeface="Wingdings" pitchFamily="2" charset="2"/>
              <a:buChar char="§"/>
            </a:pPr>
            <a:r>
              <a:rPr lang="en-US" dirty="0"/>
              <a:t>Week 1:	Class </a:t>
            </a:r>
          </a:p>
          <a:p>
            <a:pPr marL="274320" indent="-274320">
              <a:spcBef>
                <a:spcPts val="600"/>
              </a:spcBef>
              <a:buClr>
                <a:srgbClr val="C00000"/>
              </a:buClr>
              <a:buFont typeface="Wingdings" pitchFamily="2" charset="2"/>
              <a:buChar char="§"/>
            </a:pPr>
            <a:r>
              <a:rPr lang="en-US" dirty="0"/>
              <a:t>Week 2:	Class</a:t>
            </a:r>
          </a:p>
          <a:p>
            <a:pPr marL="274320" indent="-274320">
              <a:spcBef>
                <a:spcPts val="600"/>
              </a:spcBef>
              <a:buClr>
                <a:srgbClr val="C00000"/>
              </a:buClr>
              <a:buFont typeface="Wingdings" pitchFamily="2" charset="2"/>
              <a:buChar char="§"/>
            </a:pPr>
            <a:r>
              <a:rPr lang="en-US" dirty="0"/>
              <a:t>Week 3:	Class +  </a:t>
            </a:r>
            <a:r>
              <a:rPr lang="en-US" dirty="0">
                <a:solidFill>
                  <a:srgbClr val="0000FF"/>
                </a:solidFill>
              </a:rPr>
              <a:t>Quiz 1 (on the second class of week 3) </a:t>
            </a:r>
          </a:p>
          <a:p>
            <a:pPr marL="274320" indent="-274320">
              <a:spcBef>
                <a:spcPts val="600"/>
              </a:spcBef>
              <a:buClr>
                <a:srgbClr val="C00000"/>
              </a:buClr>
              <a:buFont typeface="Wingdings" pitchFamily="2" charset="2"/>
              <a:buChar char="§"/>
            </a:pPr>
            <a:r>
              <a:rPr lang="en-US" dirty="0"/>
              <a:t>Week 4: 	Class</a:t>
            </a:r>
            <a:endParaRPr lang="en-US" dirty="0">
              <a:solidFill>
                <a:srgbClr val="009900"/>
              </a:solidFill>
            </a:endParaRPr>
          </a:p>
          <a:p>
            <a:pPr marL="274320" indent="-274320">
              <a:spcBef>
                <a:spcPts val="600"/>
              </a:spcBef>
              <a:buClr>
                <a:srgbClr val="C00000"/>
              </a:buClr>
              <a:buFont typeface="Wingdings" pitchFamily="2" charset="2"/>
              <a:buChar char="§"/>
            </a:pPr>
            <a:r>
              <a:rPr lang="en-US" dirty="0"/>
              <a:t>Week 5: 	Class +  </a:t>
            </a:r>
            <a:r>
              <a:rPr lang="en-US" dirty="0">
                <a:solidFill>
                  <a:srgbClr val="0000FF"/>
                </a:solidFill>
              </a:rPr>
              <a:t>Quiz 2 (on the second class of week 5)</a:t>
            </a:r>
          </a:p>
          <a:p>
            <a:pPr marL="274320" indent="-274320">
              <a:spcBef>
                <a:spcPts val="600"/>
              </a:spcBef>
              <a:buClr>
                <a:srgbClr val="C00000"/>
              </a:buClr>
              <a:buFont typeface="Wingdings" pitchFamily="2" charset="2"/>
              <a:buChar char="§"/>
            </a:pPr>
            <a:r>
              <a:rPr lang="en-US" dirty="0"/>
              <a:t>Week 6: 	Class</a:t>
            </a:r>
          </a:p>
          <a:p>
            <a:pPr marL="274320" indent="-274320">
              <a:spcBef>
                <a:spcPts val="600"/>
              </a:spcBef>
              <a:buClr>
                <a:srgbClr val="C00000"/>
              </a:buClr>
              <a:buFont typeface="Wingdings" pitchFamily="2" charset="2"/>
              <a:buChar char="§"/>
            </a:pPr>
            <a:r>
              <a:rPr lang="en-US" b="1" dirty="0">
                <a:solidFill>
                  <a:srgbClr val="0000FF"/>
                </a:solidFill>
              </a:rPr>
              <a:t>Week 7: 	Midterm Exam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953F7-0DFC-0DB3-9DD6-F73435B81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74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C2D93-DE4A-91AC-CF64-B51E43616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Schedule of Final Term Weeks.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57897-60E7-09C7-86CD-EB8C5D54B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86" y="2133601"/>
            <a:ext cx="11432116" cy="3992563"/>
          </a:xfrm>
        </p:spPr>
        <p:txBody>
          <a:bodyPr>
            <a:normAutofit/>
          </a:bodyPr>
          <a:lstStyle/>
          <a:p>
            <a:pPr marL="274320" indent="-274320">
              <a:spcBef>
                <a:spcPts val="600"/>
              </a:spcBef>
              <a:buClr>
                <a:srgbClr val="C00000"/>
              </a:buClr>
              <a:buFont typeface="Wingdings" pitchFamily="2" charset="2"/>
              <a:buChar char="§"/>
            </a:pPr>
            <a:r>
              <a:rPr lang="en-US" dirty="0"/>
              <a:t>Week 8   :	Class</a:t>
            </a:r>
          </a:p>
          <a:p>
            <a:pPr marL="274320" indent="-274320">
              <a:spcBef>
                <a:spcPts val="600"/>
              </a:spcBef>
              <a:buClr>
                <a:srgbClr val="C00000"/>
              </a:buClr>
              <a:buFont typeface="Wingdings" pitchFamily="2" charset="2"/>
              <a:buChar char="§"/>
            </a:pPr>
            <a:r>
              <a:rPr lang="en-US" dirty="0"/>
              <a:t>Week 9   : 	Class</a:t>
            </a:r>
          </a:p>
          <a:p>
            <a:pPr marL="274320" indent="-274320">
              <a:spcBef>
                <a:spcPts val="600"/>
              </a:spcBef>
              <a:buClr>
                <a:srgbClr val="C00000"/>
              </a:buClr>
              <a:buFont typeface="Wingdings" pitchFamily="2" charset="2"/>
              <a:buChar char="§"/>
            </a:pPr>
            <a:r>
              <a:rPr lang="en-US" dirty="0"/>
              <a:t>Week 10 : 	Class + </a:t>
            </a:r>
            <a:r>
              <a:rPr lang="en-US" b="1" dirty="0">
                <a:solidFill>
                  <a:srgbClr val="0000FF"/>
                </a:solidFill>
              </a:rPr>
              <a:t>Quiz 3 </a:t>
            </a:r>
            <a:r>
              <a:rPr lang="en-US" dirty="0">
                <a:solidFill>
                  <a:srgbClr val="0000FF"/>
                </a:solidFill>
              </a:rPr>
              <a:t>(on second class of week 10)</a:t>
            </a:r>
            <a:r>
              <a:rPr lang="en-US" b="1" dirty="0">
                <a:solidFill>
                  <a:srgbClr val="0000FF"/>
                </a:solidFill>
              </a:rPr>
              <a:t> </a:t>
            </a:r>
          </a:p>
          <a:p>
            <a:pPr marL="274320" indent="-274320">
              <a:spcBef>
                <a:spcPts val="600"/>
              </a:spcBef>
              <a:buClr>
                <a:srgbClr val="C00000"/>
              </a:buClr>
              <a:buFont typeface="Wingdings" pitchFamily="2" charset="2"/>
              <a:buChar char="§"/>
            </a:pPr>
            <a:r>
              <a:rPr lang="en-US" dirty="0"/>
              <a:t>Week 11 : 	Class</a:t>
            </a:r>
          </a:p>
          <a:p>
            <a:pPr marL="274320" indent="-274320">
              <a:spcBef>
                <a:spcPts val="600"/>
              </a:spcBef>
              <a:buClr>
                <a:srgbClr val="C00000"/>
              </a:buClr>
              <a:buFont typeface="Wingdings" pitchFamily="2" charset="2"/>
              <a:buChar char="§"/>
            </a:pPr>
            <a:r>
              <a:rPr lang="en-US" dirty="0"/>
              <a:t>Week 12 : 	Class + </a:t>
            </a:r>
            <a:r>
              <a:rPr lang="en-US" b="1" dirty="0">
                <a:solidFill>
                  <a:srgbClr val="0000FF"/>
                </a:solidFill>
              </a:rPr>
              <a:t>Quiz 4 </a:t>
            </a:r>
            <a:r>
              <a:rPr lang="en-US" dirty="0">
                <a:solidFill>
                  <a:srgbClr val="0000FF"/>
                </a:solidFill>
              </a:rPr>
              <a:t>(on second class of week 12)  </a:t>
            </a:r>
          </a:p>
          <a:p>
            <a:pPr marL="274320" indent="-274320">
              <a:spcBef>
                <a:spcPts val="600"/>
              </a:spcBef>
              <a:buClr>
                <a:srgbClr val="C00000"/>
              </a:buClr>
              <a:buFont typeface="Wingdings" pitchFamily="2" charset="2"/>
              <a:buChar char="§"/>
            </a:pPr>
            <a:r>
              <a:rPr lang="en-US" dirty="0"/>
              <a:t>Week 13 : 	Class</a:t>
            </a:r>
          </a:p>
          <a:p>
            <a:pPr marL="274320" indent="-274320">
              <a:spcBef>
                <a:spcPts val="600"/>
              </a:spcBef>
              <a:buClr>
                <a:srgbClr val="C00000"/>
              </a:buClr>
              <a:buFont typeface="Wingdings" pitchFamily="2" charset="2"/>
              <a:buChar char="§"/>
            </a:pPr>
            <a:r>
              <a:rPr lang="en-US" b="1" dirty="0">
                <a:solidFill>
                  <a:srgbClr val="0000FF"/>
                </a:solidFill>
              </a:rPr>
              <a:t>Week 14 : 	Final Exam</a:t>
            </a:r>
            <a:r>
              <a:rPr lang="en-US" dirty="0">
                <a:solidFill>
                  <a:srgbClr val="0000FF"/>
                </a:solidFill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CD2F2-F012-8265-8639-8CB6BBD6B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807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4C680-C940-2B7C-F8C4-033DBC12C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EB724-E2F9-B90E-29B3-5B42785497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dirty="0"/>
              <a:t>Class Attendance : 	10%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dirty="0" err="1"/>
              <a:t>Quiz+Project</a:t>
            </a:r>
            <a:r>
              <a:rPr lang="en-US" dirty="0"/>
              <a:t>         :	40%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dirty="0"/>
              <a:t>Term Exam	         :	50%</a:t>
            </a:r>
          </a:p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b="1" dirty="0">
                <a:solidFill>
                  <a:srgbClr val="0000FF"/>
                </a:solidFill>
              </a:rPr>
              <a:t>Grand Total = </a:t>
            </a:r>
            <a:r>
              <a:rPr lang="en-US" b="1" dirty="0">
                <a:solidFill>
                  <a:srgbClr val="FF0000"/>
                </a:solidFill>
              </a:rPr>
              <a:t>40%</a:t>
            </a:r>
            <a:r>
              <a:rPr lang="en-US" b="1" dirty="0">
                <a:solidFill>
                  <a:srgbClr val="0000FF"/>
                </a:solidFill>
              </a:rPr>
              <a:t> of Mid Term + </a:t>
            </a:r>
            <a:r>
              <a:rPr lang="en-US" b="1" dirty="0">
                <a:solidFill>
                  <a:srgbClr val="FF0000"/>
                </a:solidFill>
              </a:rPr>
              <a:t>60%</a:t>
            </a:r>
            <a:r>
              <a:rPr lang="en-US" b="1" dirty="0">
                <a:solidFill>
                  <a:srgbClr val="0000FF"/>
                </a:solidFill>
              </a:rPr>
              <a:t> of Final Term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7A5B3-591F-C1BD-84C2-9D46985AD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104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0916B-0738-A995-7C92-7592ED77D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62D38-8E00-60B3-662D-6804F4E10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274320" lvl="1" indent="-274320">
              <a:buFont typeface="Arial" pitchFamily="34" charset="0"/>
              <a:buChar char="•"/>
            </a:pPr>
            <a:r>
              <a:rPr lang="en-US" sz="3200" dirty="0"/>
              <a:t>AIUB does not allow any kind of cheating.</a:t>
            </a:r>
          </a:p>
          <a:p>
            <a:pPr marL="274320" lvl="1" indent="-274320">
              <a:buFont typeface="Arial" pitchFamily="34" charset="0"/>
              <a:buChar char="•"/>
            </a:pPr>
            <a:r>
              <a:rPr lang="en-US" sz="3200" dirty="0"/>
              <a:t>In case of cheating, you’ll get an </a:t>
            </a:r>
            <a:r>
              <a:rPr lang="en-US" sz="3200" b="1" dirty="0">
                <a:solidFill>
                  <a:srgbClr val="FF0000"/>
                </a:solidFill>
              </a:rPr>
              <a:t>F</a:t>
            </a:r>
            <a:r>
              <a:rPr lang="en-US" sz="3200" dirty="0"/>
              <a:t> in the course.</a:t>
            </a:r>
          </a:p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800" dirty="0">
                <a:solidFill>
                  <a:srgbClr val="FF0000"/>
                </a:solidFill>
              </a:rPr>
              <a:t>Must have at least 80% attendance to pass this course. </a:t>
            </a:r>
            <a:r>
              <a:rPr lang="en-US" sz="2800" dirty="0"/>
              <a:t>Failure to do so will result in an </a:t>
            </a:r>
            <a:r>
              <a:rPr lang="en-US" sz="2800" b="1" dirty="0">
                <a:solidFill>
                  <a:srgbClr val="FF0000"/>
                </a:solidFill>
              </a:rPr>
              <a:t>automatic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FF0000"/>
                </a:solidFill>
              </a:rPr>
              <a:t>UW</a:t>
            </a:r>
            <a:r>
              <a:rPr lang="en-US" sz="2800" dirty="0"/>
              <a:t>.</a:t>
            </a:r>
          </a:p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800" dirty="0"/>
              <a:t>Must appear in the midterm and final term exam.</a:t>
            </a:r>
          </a:p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800" dirty="0"/>
              <a:t>No make-up Quiz. </a:t>
            </a:r>
          </a:p>
          <a:p>
            <a:pPr marL="274320" lvl="1" indent="-274320">
              <a:buFont typeface="Wingdings" pitchFamily="2" charset="2"/>
              <a:buChar char="§"/>
            </a:pPr>
            <a:r>
              <a:rPr lang="en-US" sz="2800" dirty="0"/>
              <a:t>No request will be entertained for raising grade; but I will voluntarily give you bonus marks if you are eligible. </a:t>
            </a:r>
          </a:p>
          <a:p>
            <a:pPr marL="274320" lvl="1" indent="-274320">
              <a:buFont typeface="Wingdings" pitchFamily="2" charset="2"/>
              <a:buChar char="§"/>
            </a:pPr>
            <a:r>
              <a:rPr lang="en-US" sz="2800" dirty="0">
                <a:latin typeface="Calibri" pitchFamily="34" charset="0"/>
                <a:cs typeface="Calibri" pitchFamily="34" charset="0"/>
              </a:rPr>
              <a:t>I reserve the right to be more lenient to those who deserve.</a:t>
            </a:r>
            <a:endParaRPr lang="en-US" sz="3200" dirty="0">
              <a:latin typeface="Calibri" pitchFamily="34" charset="0"/>
              <a:cs typeface="Calibri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67BB75-B5DB-E722-5626-CD8ADAB8B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12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CA0E1-A42A-0040-5694-546767644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5E587-9451-F9C5-D0D6-D1DE952F3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dirty="0">
                <a:solidFill>
                  <a:srgbClr val="0000FF"/>
                </a:solidFill>
              </a:rPr>
              <a:t>If you have 100% attendance, you will get bonus marks.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If your attendance falls below 80%, you will get UW.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dirty="0"/>
              <a:t>If you are absent for some reason, then you must submit an application with valid supporting documents when you come next time in the class. 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u="sng" dirty="0">
                <a:solidFill>
                  <a:srgbClr val="FF0000"/>
                </a:solidFill>
              </a:rPr>
              <a:t>If you are in probation</a:t>
            </a:r>
            <a:r>
              <a:rPr lang="en-US" dirty="0">
                <a:solidFill>
                  <a:srgbClr val="FF0000"/>
                </a:solidFill>
              </a:rPr>
              <a:t>, do NOT miss any class and you MUST come for consultation at least once a week. 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b="1" i="1" u="sng" dirty="0">
                <a:solidFill>
                  <a:srgbClr val="FF0000"/>
                </a:solidFill>
              </a:rPr>
              <a:t>Note</a:t>
            </a:r>
            <a:r>
              <a:rPr lang="en-US" dirty="0">
                <a:solidFill>
                  <a:srgbClr val="FF0000"/>
                </a:solidFill>
              </a:rPr>
              <a:t>: A Probation student can NOT DROP course.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41801-D1A8-F273-58F4-D5BD9FC8F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416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B8CDD-A839-6BA7-A59D-39A9683D1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3B102-BA2E-3A15-9565-B8C1E186E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What is Data Mining?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942C3-6C8F-073C-B916-B4DEADB4D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86" y="2133601"/>
            <a:ext cx="11432116" cy="399256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b="1" dirty="0"/>
              <a:t>Data Mining (DM)</a:t>
            </a:r>
            <a:r>
              <a:rPr lang="en-US" dirty="0"/>
              <a:t> is the process of </a:t>
            </a:r>
            <a:r>
              <a:rPr lang="en-US" b="1" dirty="0"/>
              <a:t>discovering useful patterns, relationships, or knowledge from large volumes of data</a:t>
            </a:r>
            <a:r>
              <a:rPr lang="en-US" dirty="0"/>
              <a:t>. It involves analyzing data from different perspectives and summarizing it into actionable information.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b="1" dirty="0"/>
              <a:t>It is also called</a:t>
            </a:r>
            <a:r>
              <a:rPr lang="en-US" dirty="0"/>
              <a:t> Knowledge Discovery in Databases (KDD) (sometimes KDD is considered the full process, with data mining as a step).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b="1" dirty="0"/>
              <a:t>Goal:</a:t>
            </a:r>
            <a:r>
              <a:rPr lang="en-US" dirty="0"/>
              <a:t> Extract </a:t>
            </a:r>
            <a:r>
              <a:rPr lang="en-US" b="1" dirty="0"/>
              <a:t>meaningful insights</a:t>
            </a:r>
            <a:r>
              <a:rPr lang="en-US" dirty="0"/>
              <a:t> to support decision-making.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b="1" dirty="0"/>
              <a:t>Example: </a:t>
            </a:r>
            <a:r>
              <a:rPr lang="en-US" dirty="0"/>
              <a:t>Retailer analyzing purchase data to find that customers who buy diapers often buy baby wipes.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B4BB8-DC06-7A48-1BB9-A8B412302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579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C2A56-C666-B348-303B-53C083C02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17E3E-78F4-EDDD-DD1F-1AAF68CC2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86" y="2133601"/>
            <a:ext cx="11432116" cy="3992563"/>
          </a:xfrm>
        </p:spPr>
        <p:txBody>
          <a:bodyPr>
            <a:normAutofit fontScale="92500"/>
          </a:bodyPr>
          <a:lstStyle/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Data</a:t>
            </a:r>
            <a:r>
              <a:rPr lang="en-US" dirty="0"/>
              <a:t>: Raw facts and figures collected from various sources.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Pattern</a:t>
            </a:r>
            <a:r>
              <a:rPr lang="en-US" dirty="0"/>
              <a:t>: Regularities, trends, or correlations found in the data.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Knowledge</a:t>
            </a:r>
            <a:r>
              <a:rPr lang="en-US" dirty="0"/>
              <a:t>: Interpreted patterns that provide actionable insights.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Mining Techniques:</a:t>
            </a:r>
            <a:endParaRPr lang="en-US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Classification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Clustering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Association Rule Mining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Regression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Anomaly Detection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Example: </a:t>
            </a:r>
            <a:r>
              <a:rPr lang="en-US" dirty="0"/>
              <a:t>Market Basket Analysis (Association Rules), Predicting customer churn (Classification)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7A7E5-6E01-4B8E-6413-0638A561D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807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D40AE-FB56-97E7-DF26-77BB3B231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for Data Mining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E8588-562B-E1FF-0606-C03C4160F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86" y="2133601"/>
            <a:ext cx="11432116" cy="3992563"/>
          </a:xfrm>
        </p:spPr>
        <p:txBody>
          <a:bodyPr>
            <a:normAutofit lnSpcReduction="10000"/>
          </a:bodyPr>
          <a:lstStyle/>
          <a:p>
            <a:pPr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dirty="0"/>
              <a:t>Data mining is motivated by the need to turn large volumes of data into useful knowledge: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US" dirty="0"/>
              <a:t>Data Explosion: Organizations collect vast amounts of data that cannot be analyzed manually.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US" dirty="0"/>
              <a:t>Decision Support: Helps in making informed and strategic business decisions.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US" dirty="0"/>
              <a:t>Competitive Advantage: Insights from data mining can improve efficiency, marketing, and customer satisfaction.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US" dirty="0"/>
              <a:t>Pattern Discovery: Reveals hidden relationships not obvious through traditional analysis.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US" dirty="0"/>
              <a:t>Cost Reduction: Detect fraud, optimize processes, and minimize risks.</a:t>
            </a:r>
          </a:p>
          <a:p>
            <a:pPr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dirty="0"/>
              <a:t>Example: Banks use DM to detect fraudulent transactions.  Hospitals use DM to predict patient disease risk.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1F3C4-D592-FD78-704B-2D6035600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24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F889F-A5CB-86E5-CA00-A66208A28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91E7BF7-AAF5-7CC8-348B-2EFE8C767F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0799210"/>
              </p:ext>
            </p:extLst>
          </p:nvPr>
        </p:nvGraphicFramePr>
        <p:xfrm>
          <a:off x="1616833" y="2133600"/>
          <a:ext cx="8956746" cy="399256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478373">
                  <a:extLst>
                    <a:ext uri="{9D8B030D-6E8A-4147-A177-3AD203B41FA5}">
                      <a16:colId xmlns:a16="http://schemas.microsoft.com/office/drawing/2014/main" val="3940203551"/>
                    </a:ext>
                  </a:extLst>
                </a:gridCol>
                <a:gridCol w="4478373">
                  <a:extLst>
                    <a:ext uri="{9D8B030D-6E8A-4147-A177-3AD203B41FA5}">
                      <a16:colId xmlns:a16="http://schemas.microsoft.com/office/drawing/2014/main" val="1079462300"/>
                    </a:ext>
                  </a:extLst>
                </a:gridCol>
              </a:tblGrid>
              <a:tr h="347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Domain</a:t>
                      </a:r>
                    </a:p>
                  </a:txBody>
                  <a:tcPr marL="86795" marR="86795" marT="43397" marB="433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Applications</a:t>
                      </a:r>
                    </a:p>
                  </a:txBody>
                  <a:tcPr marL="86795" marR="86795" marT="43397" marB="43397" anchor="ctr"/>
                </a:tc>
                <a:extLst>
                  <a:ext uri="{0D108BD9-81ED-4DB2-BD59-A6C34878D82A}">
                    <a16:rowId xmlns:a16="http://schemas.microsoft.com/office/drawing/2014/main" val="1053629360"/>
                  </a:ext>
                </a:extLst>
              </a:tr>
              <a:tr h="6075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dirty="0"/>
                        <a:t>Business &amp; Retail</a:t>
                      </a:r>
                      <a:endParaRPr lang="en-US" sz="1700" dirty="0"/>
                    </a:p>
                  </a:txBody>
                  <a:tcPr marL="86795" marR="86795" marT="43397" marB="433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Customer segmentation, market basket analysis, sales forecasting</a:t>
                      </a:r>
                    </a:p>
                  </a:txBody>
                  <a:tcPr marL="86795" marR="86795" marT="43397" marB="43397" anchor="ctr"/>
                </a:tc>
                <a:extLst>
                  <a:ext uri="{0D108BD9-81ED-4DB2-BD59-A6C34878D82A}">
                    <a16:rowId xmlns:a16="http://schemas.microsoft.com/office/drawing/2014/main" val="1898489450"/>
                  </a:ext>
                </a:extLst>
              </a:tr>
              <a:tr h="6075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Banking &amp; Finance</a:t>
                      </a:r>
                      <a:endParaRPr lang="en-US" sz="1700"/>
                    </a:p>
                  </a:txBody>
                  <a:tcPr marL="86795" marR="86795" marT="43397" marB="433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Credit scoring, fraud detection, risk management</a:t>
                      </a:r>
                    </a:p>
                  </a:txBody>
                  <a:tcPr marL="86795" marR="86795" marT="43397" marB="43397" anchor="ctr"/>
                </a:tc>
                <a:extLst>
                  <a:ext uri="{0D108BD9-81ED-4DB2-BD59-A6C34878D82A}">
                    <a16:rowId xmlns:a16="http://schemas.microsoft.com/office/drawing/2014/main" val="3260383141"/>
                  </a:ext>
                </a:extLst>
              </a:tr>
              <a:tr h="6075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Healthcare</a:t>
                      </a:r>
                      <a:endParaRPr lang="en-US" sz="1700"/>
                    </a:p>
                  </a:txBody>
                  <a:tcPr marL="86795" marR="86795" marT="43397" marB="433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Disease prediction, patient care optimization, medical research</a:t>
                      </a:r>
                    </a:p>
                  </a:txBody>
                  <a:tcPr marL="86795" marR="86795" marT="43397" marB="43397" anchor="ctr"/>
                </a:tc>
                <a:extLst>
                  <a:ext uri="{0D108BD9-81ED-4DB2-BD59-A6C34878D82A}">
                    <a16:rowId xmlns:a16="http://schemas.microsoft.com/office/drawing/2014/main" val="3712950551"/>
                  </a:ext>
                </a:extLst>
              </a:tr>
              <a:tr h="6075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Telecommunications</a:t>
                      </a:r>
                      <a:endParaRPr lang="en-US" sz="1700"/>
                    </a:p>
                  </a:txBody>
                  <a:tcPr marL="86795" marR="86795" marT="43397" marB="433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Churn analysis, call pattern analysis, network optimization</a:t>
                      </a:r>
                    </a:p>
                  </a:txBody>
                  <a:tcPr marL="86795" marR="86795" marT="43397" marB="43397" anchor="ctr"/>
                </a:tc>
                <a:extLst>
                  <a:ext uri="{0D108BD9-81ED-4DB2-BD59-A6C34878D82A}">
                    <a16:rowId xmlns:a16="http://schemas.microsoft.com/office/drawing/2014/main" val="2647508570"/>
                  </a:ext>
                </a:extLst>
              </a:tr>
              <a:tr h="6075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Web &amp; Social Media</a:t>
                      </a:r>
                      <a:endParaRPr lang="en-US" sz="1700"/>
                    </a:p>
                  </a:txBody>
                  <a:tcPr marL="86795" marR="86795" marT="43397" marB="433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Recommendation systems, social network analysis, sentiment analysis</a:t>
                      </a:r>
                    </a:p>
                  </a:txBody>
                  <a:tcPr marL="86795" marR="86795" marT="43397" marB="43397" anchor="ctr"/>
                </a:tc>
                <a:extLst>
                  <a:ext uri="{0D108BD9-81ED-4DB2-BD59-A6C34878D82A}">
                    <a16:rowId xmlns:a16="http://schemas.microsoft.com/office/drawing/2014/main" val="263465970"/>
                  </a:ext>
                </a:extLst>
              </a:tr>
              <a:tr h="6075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/>
                        <a:t>Manufacturing</a:t>
                      </a:r>
                      <a:endParaRPr lang="en-US" sz="1700"/>
                    </a:p>
                  </a:txBody>
                  <a:tcPr marL="86795" marR="86795" marT="43397" marB="433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Quality control, process optimization, predictive maintenance</a:t>
                      </a:r>
                    </a:p>
                  </a:txBody>
                  <a:tcPr marL="86795" marR="86795" marT="43397" marB="43397" anchor="ctr"/>
                </a:tc>
                <a:extLst>
                  <a:ext uri="{0D108BD9-81ED-4DB2-BD59-A6C34878D82A}">
                    <a16:rowId xmlns:a16="http://schemas.microsoft.com/office/drawing/2014/main" val="375199527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741D4-AB99-2173-C3C3-A1C2F2769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238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D899D-1C35-7143-E4D3-0BCDD24A9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KDD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93B64-3168-D908-8F40-FC0F2AA53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86" y="2133601"/>
            <a:ext cx="11432116" cy="3992563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spcBef>
                <a:spcPts val="600"/>
              </a:spcBef>
              <a:buNone/>
            </a:pPr>
            <a:r>
              <a:rPr lang="en-US" dirty="0"/>
              <a:t>KDD is a </a:t>
            </a:r>
            <a:r>
              <a:rPr lang="en-US" b="1" dirty="0"/>
              <a:t>step-by-step process for discovering useful knowledge</a:t>
            </a:r>
            <a:r>
              <a:rPr lang="en-US" dirty="0"/>
              <a:t> from data. Data mining is one of the steps in KDD.</a:t>
            </a:r>
          </a:p>
          <a:p>
            <a:pPr marL="0" indent="0" algn="just">
              <a:spcBef>
                <a:spcPts val="600"/>
              </a:spcBef>
              <a:buNone/>
            </a:pPr>
            <a:r>
              <a:rPr lang="en-US" b="1" dirty="0"/>
              <a:t>Steps in KDD:</a:t>
            </a:r>
            <a:endParaRPr lang="en-US" dirty="0"/>
          </a:p>
          <a:p>
            <a:pPr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Data Selection: </a:t>
            </a:r>
            <a:r>
              <a:rPr lang="en-US" dirty="0"/>
              <a:t>Choose the relevant data from databases.</a:t>
            </a:r>
          </a:p>
          <a:p>
            <a:pPr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Data Preprocessing: </a:t>
            </a:r>
            <a:r>
              <a:rPr lang="en-US" dirty="0"/>
              <a:t>Clean data, handle missing values, remove noise, and integrate data from multiple sources.</a:t>
            </a:r>
          </a:p>
          <a:p>
            <a:pPr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Data Transformation: </a:t>
            </a:r>
            <a:r>
              <a:rPr lang="en-US" dirty="0"/>
              <a:t>Convert data into appropriate formats or features suitable for mining. Example: Normalization, aggregation, dimensionality reduction.</a:t>
            </a:r>
          </a:p>
          <a:p>
            <a:pPr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Data Mining: </a:t>
            </a:r>
            <a:r>
              <a:rPr lang="en-US" dirty="0"/>
              <a:t>Apply algorithms to extract patterns and relationships. Examples: Classification, clustering, and association rule mining.</a:t>
            </a:r>
          </a:p>
          <a:p>
            <a:pPr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Pattern Evaluation and Knowledge Interpretation: </a:t>
            </a:r>
            <a:r>
              <a:rPr lang="en-US" dirty="0"/>
              <a:t>Identify truly interesting patterns based on </a:t>
            </a:r>
            <a:r>
              <a:rPr lang="en-US" b="1" dirty="0"/>
              <a:t>validity, novelty, and usefulness</a:t>
            </a:r>
            <a:r>
              <a:rPr lang="en-US" dirty="0"/>
              <a:t>. Present results in an understandable format for decision-makers.</a:t>
            </a:r>
          </a:p>
          <a:p>
            <a:pPr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Knowledge Presentation: </a:t>
            </a:r>
            <a:r>
              <a:rPr lang="en-US" dirty="0"/>
              <a:t>Use visualization techniques, reports, or dashboards to communicate insights effectively.</a:t>
            </a:r>
          </a:p>
          <a:p>
            <a:pPr algn="just">
              <a:spcBef>
                <a:spcPts val="600"/>
              </a:spcBef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7EB15-FDFA-2B5D-F5B6-7F6B404DD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873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4292C-E682-C5BE-4D57-C32E4446A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Mining Functionalities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4A26D-3D83-E7ED-81CD-4968FF655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86" y="2133601"/>
            <a:ext cx="11432116" cy="39925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Data mining functionalities describe the types of patterns and knowledge that can be discovered from data.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They can be classified into two broad categories: Descriptive and Predictive.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37F35D-7CFD-23C4-709A-9D5951FCD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40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7F94C-BCF8-D582-23F3-2FA7D7C6E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655C7-1FBD-058E-7574-2EFAB750D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Descriptive Data Mining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CECCD-1BD3-3632-2728-9518F0073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86" y="2133601"/>
            <a:ext cx="11432116" cy="3992563"/>
          </a:xfrm>
        </p:spPr>
        <p:txBody>
          <a:bodyPr>
            <a:normAutofit fontScale="70000" lnSpcReduction="20000"/>
          </a:bodyPr>
          <a:lstStyle/>
          <a:p>
            <a:pPr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Aim:</a:t>
            </a:r>
            <a:r>
              <a:rPr lang="en-US" dirty="0"/>
              <a:t> Summarize and describe patterns in the data without making predictions.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Key Functionalities:</a:t>
            </a:r>
            <a:endParaRPr lang="en-US" dirty="0"/>
          </a:p>
          <a:p>
            <a:pPr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Characterization</a:t>
            </a:r>
            <a:endParaRPr lang="en-US" dirty="0"/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dirty="0"/>
              <a:t>Provides a summary of general properties of a target dataset.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dirty="0"/>
              <a:t>Example: “The average age of students in the computer science department is 21.”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Discrimination</a:t>
            </a:r>
            <a:endParaRPr lang="en-US" dirty="0"/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dirty="0"/>
              <a:t>Compares two or more datasets to find differences.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dirty="0"/>
              <a:t>Example: “Students who pass exams vs. students who fail exams differ in study hours and attendance.”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Association / Correlation Analysis</a:t>
            </a:r>
            <a:endParaRPr lang="en-US" dirty="0"/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dirty="0"/>
              <a:t>Finds relationships or patterns between items.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dirty="0"/>
              <a:t>Example: “Customers who buy laptops often buy a mouse and a laptop bag.”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Technique:</a:t>
            </a:r>
            <a:r>
              <a:rPr lang="en-US" dirty="0"/>
              <a:t> Market Basket Analysis, </a:t>
            </a:r>
            <a:r>
              <a:rPr lang="en-US" dirty="0" err="1"/>
              <a:t>Apriori</a:t>
            </a:r>
            <a:r>
              <a:rPr lang="en-US" dirty="0"/>
              <a:t> Algorithm.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Clustering</a:t>
            </a:r>
            <a:endParaRPr lang="en-US" dirty="0"/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dirty="0"/>
              <a:t>Groups similar data objects into clusters where objects in the same cluster are similar.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dirty="0"/>
              <a:t>Example: Segmenting customers into groups based on purchasing behavior.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Summarization</a:t>
            </a:r>
            <a:endParaRPr lang="en-US" dirty="0"/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dirty="0"/>
              <a:t>Provides a compact description of the dataset.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dirty="0"/>
              <a:t>Example: “Summary statistics, mean, median, standard deviation of sales data.”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5CD17-1DF7-49D0-918B-B4C05A3B2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025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C304F-90E9-A7E7-9767-1962F0829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Predictive DM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D7620-9A50-41C4-378F-CB32618B9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86" y="2133601"/>
            <a:ext cx="11432116" cy="3992563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Aim:</a:t>
            </a:r>
            <a:r>
              <a:rPr lang="en-US" dirty="0"/>
              <a:t> Make predictions about unknown or future data based on patterns learned from known data.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Key Functionalities:</a:t>
            </a:r>
            <a:endParaRPr lang="en-US" dirty="0"/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Classification</a:t>
            </a:r>
            <a:endParaRPr lang="en-US" dirty="0"/>
          </a:p>
          <a:p>
            <a:pPr lvl="2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dirty="0"/>
              <a:t>Assigns items to predefined categories or classes.</a:t>
            </a:r>
          </a:p>
          <a:p>
            <a:pPr lvl="2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dirty="0"/>
              <a:t>Example: Email → Spam or Not Spam; Patient → High-risk or Low-risk.</a:t>
            </a:r>
          </a:p>
          <a:p>
            <a:pPr lvl="2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Technique:</a:t>
            </a:r>
            <a:r>
              <a:rPr lang="en-US" dirty="0"/>
              <a:t> Decision Trees, Naive Bayes, Support Vector Machines.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Regression</a:t>
            </a:r>
            <a:endParaRPr lang="en-US" dirty="0"/>
          </a:p>
          <a:p>
            <a:pPr lvl="2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dirty="0"/>
              <a:t>Predicts a continuous numeric value.</a:t>
            </a:r>
          </a:p>
          <a:p>
            <a:pPr lvl="2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dirty="0"/>
              <a:t>Example: Predicting house prices, stock prices, or temperature.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Anomaly / Outlier Detection</a:t>
            </a:r>
            <a:endParaRPr lang="en-US" dirty="0"/>
          </a:p>
          <a:p>
            <a:pPr lvl="2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dirty="0"/>
              <a:t>Identifies rare or unusual data points that do not fit the general pattern.</a:t>
            </a:r>
          </a:p>
          <a:p>
            <a:pPr lvl="2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dirty="0"/>
              <a:t>Example: Fraud detection in banking transactions.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Prediction (Time Series &amp; Trend Analysis)</a:t>
            </a:r>
            <a:endParaRPr lang="en-US" dirty="0"/>
          </a:p>
          <a:p>
            <a:pPr lvl="2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dirty="0"/>
              <a:t>Predicts future values based on historical data.</a:t>
            </a:r>
          </a:p>
          <a:p>
            <a:pPr lvl="2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dirty="0"/>
              <a:t>Example: Forecasting sales or weather patterns.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0D825C-E95E-DC0B-7F69-C5925C658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515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2744F-3585-34E9-C3F6-DC25DD671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Major Issues and Challenges in Data Mining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44C2B-A1F6-2395-C1E6-B8EA26D14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86" y="2133601"/>
            <a:ext cx="11432116" cy="3992563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b="1" dirty="0"/>
              <a:t>1. Data Quality Issues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dirty="0"/>
              <a:t>Data mining relies on </a:t>
            </a:r>
            <a:r>
              <a:rPr lang="en-US" b="1" dirty="0"/>
              <a:t>high-quality data</a:t>
            </a:r>
            <a:r>
              <a:rPr lang="en-US" dirty="0"/>
              <a:t>, but real-world data often has problems such as: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Noise:</a:t>
            </a:r>
            <a:r>
              <a:rPr lang="en-US" dirty="0"/>
              <a:t> Random errors or irrelevant information in the data. </a:t>
            </a:r>
            <a:r>
              <a:rPr lang="en-US" i="1" dirty="0"/>
              <a:t>Example:</a:t>
            </a:r>
            <a:r>
              <a:rPr lang="en-US" dirty="0"/>
              <a:t> Sensor readings with errors.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Missing Values:</a:t>
            </a:r>
            <a:r>
              <a:rPr lang="en-US" dirty="0"/>
              <a:t> Some data points are incomplete. </a:t>
            </a:r>
            <a:r>
              <a:rPr lang="en-US" i="1" dirty="0"/>
              <a:t>Example:</a:t>
            </a:r>
            <a:r>
              <a:rPr lang="en-US" dirty="0"/>
              <a:t> A survey respondent skips questions.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Inconsistency:</a:t>
            </a:r>
            <a:r>
              <a:rPr lang="en-US" dirty="0"/>
              <a:t> Conflicting information from multiple sources. </a:t>
            </a:r>
            <a:r>
              <a:rPr lang="en-US" i="1" dirty="0"/>
              <a:t>Example:</a:t>
            </a:r>
            <a:r>
              <a:rPr lang="en-US" dirty="0"/>
              <a:t> Customer records showing different addresses in different databases.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Data Redundancy:</a:t>
            </a:r>
            <a:r>
              <a:rPr lang="en-US" dirty="0"/>
              <a:t> Duplicate or repeated records.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Impact:</a:t>
            </a:r>
            <a:r>
              <a:rPr lang="en-US" dirty="0"/>
              <a:t> Poor-quality data can lead to </a:t>
            </a:r>
            <a:r>
              <a:rPr lang="en-US" b="1" dirty="0"/>
              <a:t>incorrect or misleading patterns</a:t>
            </a:r>
            <a:r>
              <a:rPr lang="en-US" dirty="0"/>
              <a:t>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Challenge:</a:t>
            </a:r>
            <a:r>
              <a:rPr lang="en-US" dirty="0"/>
              <a:t> Cleaning, preprocessing, and integrating data is </a:t>
            </a:r>
            <a:r>
              <a:rPr lang="en-US" b="1" dirty="0"/>
              <a:t>time-consuming and complex</a:t>
            </a:r>
            <a:r>
              <a:rPr lang="en-US" dirty="0"/>
              <a:t>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9D95E-C887-FDD5-08E4-BFBC4BD82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7486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5E32D-7ABF-251A-0B3E-E6B8BB5D4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B4C59-2CAC-8467-4617-C65DFFB3D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3B257-B6F0-9D79-849D-01CFA5683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86" y="2133601"/>
            <a:ext cx="11432116" cy="3992563"/>
          </a:xfrm>
        </p:spPr>
        <p:txBody>
          <a:bodyPr>
            <a:normAutofit fontScale="85000" lnSpcReduction="2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b="1" dirty="0"/>
              <a:t>2. Scalability and Performance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Modern datasets are extremely </a:t>
            </a:r>
            <a:r>
              <a:rPr lang="en-US" b="1" dirty="0"/>
              <a:t>large and high-dimensional</a:t>
            </a:r>
            <a:r>
              <a:rPr lang="en-US" dirty="0"/>
              <a:t>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Volume:</a:t>
            </a:r>
            <a:r>
              <a:rPr lang="en-US" dirty="0"/>
              <a:t> Terabytes or petabytes of data.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High-dimensionality:</a:t>
            </a:r>
            <a:r>
              <a:rPr lang="en-US" dirty="0"/>
              <a:t> Many attributes per record, e.g., genomic data or IoT sensor data.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Challenges:</a:t>
            </a:r>
            <a:endParaRPr lang="en-US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Algorithms must be </a:t>
            </a:r>
            <a:r>
              <a:rPr lang="en-US" b="1" dirty="0"/>
              <a:t>efficient</a:t>
            </a:r>
            <a:r>
              <a:rPr lang="en-US" dirty="0"/>
              <a:t> and scalable.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Storage, computation, and memory requirements are </a:t>
            </a:r>
            <a:r>
              <a:rPr lang="en-US" b="1" dirty="0"/>
              <a:t>high</a:t>
            </a:r>
            <a:r>
              <a:rPr lang="en-US" dirty="0"/>
              <a:t>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High-dimensional data may lead to the </a:t>
            </a:r>
            <a:r>
              <a:rPr lang="en-US" b="1" dirty="0"/>
              <a:t>curse of dimensionality</a:t>
            </a:r>
            <a:r>
              <a:rPr lang="en-US" dirty="0"/>
              <a:t>, where patterns are harder to detect.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Solution Approaches:</a:t>
            </a:r>
            <a:endParaRPr lang="en-US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Dimensionality reduction (PCA, feature selection)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Parallel and distributed data mining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Cloud-based analytics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FE8C3-198B-1011-E293-DD1A64F03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0172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D621A-63A6-AD38-D550-A13598433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3CE5C-6BB8-D642-CEF9-B234C1AEF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B4C39-F43F-9BA4-0991-7332D03F9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86" y="2133601"/>
            <a:ext cx="11432116" cy="3992563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b="1" dirty="0"/>
              <a:t>3. Privacy and Security Concerns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Data mining often involves sensitive personal or organizational data.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dirty="0"/>
              <a:t>Personal data (health records, financial information) can be </a:t>
            </a:r>
            <a:r>
              <a:rPr lang="en-US" b="1" dirty="0"/>
              <a:t>misused</a:t>
            </a:r>
            <a:r>
              <a:rPr lang="en-US" dirty="0"/>
              <a:t>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dirty="0"/>
              <a:t>Mining across organizations may lead to </a:t>
            </a:r>
            <a:r>
              <a:rPr lang="en-US" b="1" dirty="0"/>
              <a:t>data leakage</a:t>
            </a:r>
            <a:r>
              <a:rPr lang="en-US" dirty="0"/>
              <a:t>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Challenges:</a:t>
            </a:r>
            <a:endParaRPr lang="en-US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Ensuring </a:t>
            </a:r>
            <a:r>
              <a:rPr lang="en-US" b="1" dirty="0"/>
              <a:t>data confidentiality</a:t>
            </a:r>
            <a:r>
              <a:rPr lang="en-US" dirty="0"/>
              <a:t> while performing analytics.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Preventing </a:t>
            </a:r>
            <a:r>
              <a:rPr lang="en-US" b="1" dirty="0"/>
              <a:t>unauthorized access</a:t>
            </a:r>
            <a:r>
              <a:rPr lang="en-US" dirty="0"/>
              <a:t> and </a:t>
            </a:r>
            <a:r>
              <a:rPr lang="en-US" b="1" dirty="0"/>
              <a:t>identity disclosure</a:t>
            </a:r>
            <a:r>
              <a:rPr lang="en-US" dirty="0"/>
              <a:t>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Solution Approaches:</a:t>
            </a:r>
            <a:endParaRPr lang="en-US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Data anonymization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Secure multi-party computation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Differential privacy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9837A-9BE7-32BB-5948-5A92F49F7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9089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77EE6-4EB5-66EF-AE42-615EFEA67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9C7F2-A2D3-1B18-26D1-4A3DEEBE3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D64C4-E0A9-D2A0-6E92-96459B674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86" y="2133601"/>
            <a:ext cx="11432116" cy="3992563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b="1" dirty="0"/>
              <a:t>4. Heterogeneous and Complex Data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dirty="0"/>
              <a:t>Data comes in </a:t>
            </a:r>
            <a:r>
              <a:rPr lang="en-US" b="1" dirty="0"/>
              <a:t>various formats</a:t>
            </a:r>
            <a:r>
              <a:rPr lang="en-US" dirty="0"/>
              <a:t>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Structured (databases, spreadsheets)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Semi-structured (XML, JSON)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Unstructured (text, audio, video, images)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Challenges:</a:t>
            </a:r>
            <a:endParaRPr lang="en-US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Integrating and mining heterogeneous data is </a:t>
            </a:r>
            <a:r>
              <a:rPr lang="en-US" b="1" dirty="0"/>
              <a:t>technically difficult</a:t>
            </a:r>
            <a:r>
              <a:rPr lang="en-US" dirty="0"/>
              <a:t>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Different data types require </a:t>
            </a:r>
            <a:r>
              <a:rPr lang="en-US" b="1" dirty="0"/>
              <a:t>different mining techniques</a:t>
            </a:r>
            <a:r>
              <a:rPr lang="en-US" dirty="0"/>
              <a:t>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Example:</a:t>
            </a:r>
            <a:r>
              <a:rPr lang="en-US" dirty="0"/>
              <a:t> Mining social media data involves text, images, videos, and network connections simultaneously.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91C6F-D96F-EBA9-738B-5B3DD395A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457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15619-E8CE-6DF2-5A55-8C10B82E8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73117-50F3-16B1-064D-CA5D09B58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7CE6C-AAF0-EB15-8F50-E67EF9E8D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86" y="2133601"/>
            <a:ext cx="11432116" cy="39925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b="1" dirty="0"/>
              <a:t>5. Knowledge Discovery and Interpretation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Not all patterns discovered are </a:t>
            </a:r>
            <a:r>
              <a:rPr lang="en-US" b="1" dirty="0"/>
              <a:t>useful, valid, or actionable</a:t>
            </a:r>
            <a:r>
              <a:rPr lang="en-US" dirty="0"/>
              <a:t>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Challenges:</a:t>
            </a:r>
            <a:endParaRPr lang="en-US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Identifying </a:t>
            </a:r>
            <a:r>
              <a:rPr lang="en-US" b="1" dirty="0"/>
              <a:t>interesting patterns</a:t>
            </a:r>
            <a:r>
              <a:rPr lang="en-US" dirty="0"/>
              <a:t> (novel, useful, non-trivial).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Distinguishing </a:t>
            </a:r>
            <a:r>
              <a:rPr lang="en-US" b="1" dirty="0"/>
              <a:t>correlation from causation</a:t>
            </a:r>
            <a:r>
              <a:rPr lang="en-US" dirty="0"/>
              <a:t>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Presenting results in a </a:t>
            </a:r>
            <a:r>
              <a:rPr lang="en-US" b="1" dirty="0"/>
              <a:t>user-friendly, interpretable format</a:t>
            </a:r>
            <a:r>
              <a:rPr lang="en-US" dirty="0"/>
              <a:t>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Example:</a:t>
            </a:r>
            <a:r>
              <a:rPr lang="en-US" dirty="0"/>
              <a:t> A model predicts high sales for a product, but the actual reason is seasonal trends, not a discovered pattern.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E2F45-ADAA-A7B3-F5D7-943C7A292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8713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D144C-91F7-BC57-C32A-FB571D1DE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40D27-8DF1-2785-3E0A-00888F892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4B924-F743-6241-05EC-BA84DF5C1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86" y="2133601"/>
            <a:ext cx="11432116" cy="3992563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6. Dynamic and Evolving Data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dirty="0"/>
              <a:t>Many datasets are </a:t>
            </a:r>
            <a:r>
              <a:rPr lang="en-US" b="1" dirty="0"/>
              <a:t>not static</a:t>
            </a:r>
            <a:r>
              <a:rPr lang="en-US" dirty="0"/>
              <a:t>; they evolve over time: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dirty="0"/>
              <a:t>Stock market data, sensor networks, online transactions.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Challenges:</a:t>
            </a:r>
            <a:endParaRPr lang="en-US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Patterns may become </a:t>
            </a:r>
            <a:r>
              <a:rPr lang="en-US" b="1" dirty="0"/>
              <a:t>obsolete</a:t>
            </a:r>
            <a:r>
              <a:rPr lang="en-US" dirty="0"/>
              <a:t> quickly.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Mining algorithms need to handle </a:t>
            </a:r>
            <a:r>
              <a:rPr lang="en-US" b="1" dirty="0"/>
              <a:t>streaming data</a:t>
            </a:r>
            <a:r>
              <a:rPr lang="en-US" dirty="0"/>
              <a:t> and </a:t>
            </a:r>
            <a:r>
              <a:rPr lang="en-US" b="1" dirty="0"/>
              <a:t>real-time updates</a:t>
            </a:r>
            <a:r>
              <a:rPr lang="en-US" dirty="0"/>
              <a:t>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Solution Approaches:</a:t>
            </a:r>
            <a:endParaRPr lang="en-US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Incremental data mining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Online learning algorithms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1EE7D-1D97-B1F1-28AA-402E048C1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9039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2436F-CA65-11F5-982E-EEDD92D59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D6199-460F-8D78-431C-046158916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D4972-0583-A843-9F03-64A99F71E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86" y="2133601"/>
            <a:ext cx="11432116" cy="39925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b="1" dirty="0"/>
              <a:t>7. Integration with Domain Knowledge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Data mining requires understanding the </a:t>
            </a:r>
            <a:r>
              <a:rPr lang="en-US" b="1" dirty="0"/>
              <a:t>context of the data</a:t>
            </a:r>
            <a:r>
              <a:rPr lang="en-US" dirty="0"/>
              <a:t>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Challenges: </a:t>
            </a:r>
            <a:r>
              <a:rPr lang="en-US" dirty="0"/>
              <a:t>Ignoring domain knowledge can lead to </a:t>
            </a:r>
            <a:r>
              <a:rPr lang="en-US" b="1" dirty="0"/>
              <a:t>misleading results</a:t>
            </a:r>
            <a:r>
              <a:rPr lang="en-US" dirty="0"/>
              <a:t>. Incorporating </a:t>
            </a:r>
            <a:r>
              <a:rPr lang="en-US" b="1" dirty="0"/>
              <a:t>domain rules</a:t>
            </a:r>
            <a:r>
              <a:rPr lang="en-US" dirty="0"/>
              <a:t> into mining algorithms is complex.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Example:</a:t>
            </a:r>
            <a:r>
              <a:rPr lang="en-US" dirty="0"/>
              <a:t> Medical data requires knowledge of biological constraints to avoid incorrect predictions.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7594A-6C50-EAB5-E1B8-C0FF25BA7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3136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B9669-55BF-9527-9FC9-FF245E9A9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BCF36-500B-5D17-A5EE-F10CC464A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EDFD0-207F-D377-B5C7-82874095F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86" y="2133601"/>
            <a:ext cx="11432116" cy="39925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b="1" dirty="0"/>
              <a:t>8. Ethical and Legal Issues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Ethical and legal considerations affect data mining practices: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Discrimination:</a:t>
            </a:r>
            <a:r>
              <a:rPr lang="en-US" dirty="0"/>
              <a:t> Patterns may unintentionally reinforce biases.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Consent:</a:t>
            </a:r>
            <a:r>
              <a:rPr lang="en-US" dirty="0"/>
              <a:t> Using personal data without permission may violate laws (e.g., GDPR).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Transparency:</a:t>
            </a:r>
            <a:r>
              <a:rPr lang="en-US" dirty="0"/>
              <a:t> Black-box models (like deep learning) make it hard to explain decisions.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Challenge:</a:t>
            </a:r>
            <a:r>
              <a:rPr lang="en-US" dirty="0"/>
              <a:t> Ensuring that data mining respects </a:t>
            </a:r>
            <a:r>
              <a:rPr lang="en-US" b="1" dirty="0"/>
              <a:t>ethical guidelines and legal regulations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970311-C1F0-28D6-F742-AD6558ACB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1080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BD0FA-70BB-3226-DA1F-E7E1FC01A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4D68-F723-4452-AA6E-ABD4BF4DF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49E46-5218-665C-4FC8-56B075966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86" y="2133601"/>
            <a:ext cx="11432116" cy="39925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b="1" dirty="0"/>
              <a:t>9. Algorithm Selection and Complexity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Choosing the </a:t>
            </a:r>
            <a:r>
              <a:rPr lang="en-US" b="1" dirty="0"/>
              <a:t>right algorithm</a:t>
            </a:r>
            <a:r>
              <a:rPr lang="en-US" dirty="0"/>
              <a:t> is critical: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dirty="0"/>
              <a:t>No single algorithm works for all data types or mining tasks.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dirty="0"/>
              <a:t>Complexity and parameter tuning can affect </a:t>
            </a:r>
            <a:r>
              <a:rPr lang="en-US" b="1" dirty="0"/>
              <a:t>accuracy and efficiency</a:t>
            </a:r>
            <a:r>
              <a:rPr lang="en-US" dirty="0"/>
              <a:t>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Example:</a:t>
            </a:r>
            <a:r>
              <a:rPr lang="en-US" dirty="0"/>
              <a:t> Decision trees may be easy to interpret but less accurate than ensemble methods; clustering large datasets requires scalable algorithms.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723C0-A427-93A9-72EC-3C452A364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9629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D195E-AB9C-7351-D05C-277E7DF01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21F7F-6CF6-3564-4B66-1B1F87C97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30746-A182-AEA9-4481-4F645DC3E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86" y="2133601"/>
            <a:ext cx="11432116" cy="39925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b="1" dirty="0"/>
              <a:t>10. Cost of Data Mining Systems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/>
              <a:t>Implementing data mining involves: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Hardware costs</a:t>
            </a:r>
            <a:r>
              <a:rPr lang="en-US" dirty="0"/>
              <a:t> for storage and computation.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Software costs</a:t>
            </a:r>
            <a:r>
              <a:rPr lang="en-US" dirty="0"/>
              <a:t> for tools and algorithms.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Human resources</a:t>
            </a:r>
            <a:r>
              <a:rPr lang="en-US" dirty="0"/>
              <a:t> for data preparation, analysis, and interpretation.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Challenge:</a:t>
            </a:r>
            <a:r>
              <a:rPr lang="en-US" dirty="0"/>
              <a:t> Balancing </a:t>
            </a:r>
            <a:r>
              <a:rPr lang="en-US" b="1" dirty="0"/>
              <a:t>cost vs. benefit</a:t>
            </a:r>
            <a:r>
              <a:rPr lang="en-US" dirty="0"/>
              <a:t> of data mining initiatives.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BFD03-42C8-F71A-CCAF-F5D47838B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6351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61345-8492-C23D-4D6A-1CAB87477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EC1F1-2D32-6C2D-FF7C-777F0F1B4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85" y="2133601"/>
            <a:ext cx="11432116" cy="3992563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Data preprocessing is the process of preparing raw data for analysis. It transforms raw, noisy, inconsistent, or incomplete data into a clean, organized, and usable format.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Preprocessing is a crucial step in the Knowledge Discovery in Databases (KDD) process because the quality of the data directly affects the accuracy of data mining results.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Importance of Data Preprocessing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Real-world data is often </a:t>
            </a:r>
            <a:r>
              <a:rPr lang="en-US" b="1" dirty="0"/>
              <a:t>incomplete, inconsistent, and noisy</a:t>
            </a:r>
            <a:r>
              <a:rPr lang="en-US" dirty="0"/>
              <a:t>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Directly applying data mining algorithms on raw data can lead to </a:t>
            </a:r>
            <a:r>
              <a:rPr lang="en-US" b="1" dirty="0"/>
              <a:t>misleading patterns</a:t>
            </a:r>
            <a:r>
              <a:rPr lang="en-US" dirty="0"/>
              <a:t>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Preprocessing improves </a:t>
            </a:r>
            <a:r>
              <a:rPr lang="en-US" b="1" dirty="0"/>
              <a:t>data quality</a:t>
            </a:r>
            <a:r>
              <a:rPr lang="en-US" dirty="0"/>
              <a:t>, reduces </a:t>
            </a:r>
            <a:r>
              <a:rPr lang="en-US" b="1" dirty="0"/>
              <a:t>computation time</a:t>
            </a:r>
            <a:r>
              <a:rPr lang="en-US" dirty="0"/>
              <a:t>, and enhances </a:t>
            </a:r>
            <a:r>
              <a:rPr lang="en-US" b="1" dirty="0"/>
              <a:t>accuracy</a:t>
            </a:r>
            <a:r>
              <a:rPr lang="en-US" dirty="0"/>
              <a:t> of models.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BCD7A1-98EF-C0CF-1D3D-4616B3309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9364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68409-4420-10C0-5FA6-57366618C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E1CA7-8AF4-6528-AF65-7C823D03F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 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3CECE-EE9D-C42E-405A-060D980C8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85" y="2133601"/>
            <a:ext cx="11432116" cy="3992563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b="1" dirty="0"/>
              <a:t>1. Data Cleaning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Purpose:</a:t>
            </a:r>
            <a:r>
              <a:rPr lang="en-US" dirty="0"/>
              <a:t> Handle missing values, noise, and inconsistencies.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Techniques:</a:t>
            </a:r>
            <a:endParaRPr lang="en-US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b="1" dirty="0"/>
              <a:t>Handling Missing Values</a:t>
            </a:r>
            <a:endParaRPr lang="en-US" dirty="0"/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Remove records with missing values.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Fill missing values using </a:t>
            </a:r>
            <a:r>
              <a:rPr lang="en-US" b="1" dirty="0"/>
              <a:t>mean, median, mode</a:t>
            </a:r>
            <a:r>
              <a:rPr lang="en-US" dirty="0"/>
              <a:t>, or prediction methods.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b="1" dirty="0"/>
              <a:t>Noise Reduction</a:t>
            </a:r>
            <a:endParaRPr lang="en-US" dirty="0"/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Smooth noisy data using </a:t>
            </a:r>
            <a:r>
              <a:rPr lang="en-US" b="1" dirty="0"/>
              <a:t>binning, regression, or clustering</a:t>
            </a:r>
            <a:r>
              <a:rPr lang="en-US" dirty="0"/>
              <a:t>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b="1" dirty="0"/>
              <a:t>Correct Inconsistencies</a:t>
            </a:r>
            <a:endParaRPr lang="en-US" dirty="0"/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Fix conflicting data (e.g., age = 200 years → correct it).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Example:</a:t>
            </a:r>
            <a:r>
              <a:rPr lang="en-US" dirty="0"/>
              <a:t> In a sales dataset, if the price of some items is missing, replace with the average price of that item category.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FED45-ABB6-451E-9063-94E8D0633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6775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53FBD-1C2F-DAD4-6021-8837ACAEB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944B1-13D1-9ED4-EF2D-82337E7E0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D54BD-9999-EE2E-41A6-05C3B743F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85" y="2133601"/>
            <a:ext cx="11432116" cy="39925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b="1" dirty="0"/>
              <a:t>2 Data Integration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Purpose:</a:t>
            </a:r>
            <a:r>
              <a:rPr lang="en-US" dirty="0"/>
              <a:t> Combine data from </a:t>
            </a:r>
            <a:r>
              <a:rPr lang="en-US" b="1" dirty="0"/>
              <a:t>multiple sources</a:t>
            </a:r>
            <a:r>
              <a:rPr lang="en-US" dirty="0"/>
              <a:t> into a unified dataset.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Challenges:</a:t>
            </a:r>
            <a:endParaRPr lang="en-US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Schema integration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Redundancy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Conflicts between sources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Example:</a:t>
            </a:r>
            <a:r>
              <a:rPr lang="en-US" dirty="0"/>
              <a:t> Merging customer data from online sales, in-store purchases, and CRM databases.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CF33C-D7B1-9434-921E-743B952D5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53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FEF20-A480-5388-AED6-701C4EF8E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06745-AEC5-158F-DA5A-D26328A2F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7B069-078C-0E2C-BFC4-79F1CDDC6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85" y="2133601"/>
            <a:ext cx="11432116" cy="3992563"/>
          </a:xfrm>
        </p:spPr>
        <p:txBody>
          <a:bodyPr>
            <a:normAutofit fontScale="70000" lnSpcReduction="2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b="1" dirty="0"/>
              <a:t>3 Data Transformation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Purpose:</a:t>
            </a:r>
            <a:r>
              <a:rPr lang="en-US" dirty="0"/>
              <a:t> Transform data into a suitable format for mining algorithms.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Techniques:</a:t>
            </a:r>
            <a:endParaRPr lang="en-US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b="1" dirty="0"/>
              <a:t>Normalization / Scaling</a:t>
            </a:r>
            <a:endParaRPr lang="en-US" dirty="0"/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Bring data to a common scale.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Example: Min-max scaling, Z-score normalization.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b="1" dirty="0"/>
              <a:t>Aggregation</a:t>
            </a:r>
            <a:endParaRPr lang="en-US" dirty="0"/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Summarize data for higher-level analysis.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Example: Daily sales → Monthly sales.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b="1" dirty="0"/>
              <a:t>Generalization</a:t>
            </a:r>
            <a:endParaRPr lang="en-US" dirty="0"/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Replace detailed data with higher-level concepts.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Example: Age 23 → “20–30 years”.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b="1" dirty="0"/>
              <a:t>Attribute Construction</a:t>
            </a:r>
            <a:endParaRPr lang="en-US" dirty="0"/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Create new attributes from existing ones for better analysis.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Example: </a:t>
            </a:r>
            <a:r>
              <a:rPr lang="en-US" dirty="0" err="1"/>
              <a:t>TotalPurchase</a:t>
            </a:r>
            <a:r>
              <a:rPr lang="en-US" dirty="0"/>
              <a:t> = Quantity × Price.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D0C5D-FCD6-4CD7-B696-97C2CE4DD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5523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B17DB-FB0F-B997-372C-D471EC39A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F1CEE-73E8-871B-6159-F9ABB8FB1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2A3E8-585C-6FCF-12AD-FC871820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85" y="2133601"/>
            <a:ext cx="11432116" cy="3992563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b="1" dirty="0"/>
              <a:t>4 Data Reduction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Purpose:</a:t>
            </a:r>
            <a:r>
              <a:rPr lang="en-US" dirty="0"/>
              <a:t> Reduce dataset size while maintaining its integrity and patterns.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Techniques:</a:t>
            </a:r>
            <a:endParaRPr lang="en-US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b="1" dirty="0"/>
              <a:t>Dimensionality Reduction: </a:t>
            </a:r>
            <a:r>
              <a:rPr lang="en-US" dirty="0"/>
              <a:t>Remove irrelevant or redundant features (PCA, feature selection).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b="1" dirty="0"/>
              <a:t>Data Compression: </a:t>
            </a:r>
            <a:r>
              <a:rPr lang="en-US" dirty="0"/>
              <a:t>Store data in a compressed form for efficiency.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b="1" dirty="0"/>
              <a:t>Sampling: </a:t>
            </a:r>
            <a:r>
              <a:rPr lang="en-US" dirty="0"/>
              <a:t>Analyze a representative subset instead of full dataset.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b="1" dirty="0"/>
              <a:t>Discretization / Binning: </a:t>
            </a:r>
            <a:r>
              <a:rPr lang="en-US" dirty="0"/>
              <a:t>Convert continuous attributes into categorical intervals.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Example:</a:t>
            </a:r>
            <a:r>
              <a:rPr lang="en-US" dirty="0"/>
              <a:t> Instead of analyzing 1 million records, use a random sample of 50,000 records.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C955B-5F4F-0C13-5372-2959A0A17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3843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BB094-9F93-EBC4-E412-5E98BC3C8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D1BF7-6950-8D9A-AD1F-8A3DD6C5B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EE227-7FFE-0E88-C043-C8489DD6E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85" y="2133601"/>
            <a:ext cx="11432116" cy="3992563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b="1" dirty="0"/>
              <a:t>5 Data Discretization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Purpose:</a:t>
            </a:r>
            <a:r>
              <a:rPr lang="en-US" dirty="0"/>
              <a:t> Convert continuous variables into discrete categories for easier analysis.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Techniques:</a:t>
            </a:r>
            <a:endParaRPr lang="en-US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Equal-width binning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Equal-frequency binning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Clustering-based discretization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Example:</a:t>
            </a:r>
            <a:r>
              <a:rPr lang="en-US" dirty="0"/>
              <a:t> Converting temperature readings into categories: Low (&lt;20°C), Medium (20–30°C), High (&gt;30°C).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619A6-071F-0744-B578-6AD21C1FE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4175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4646E-D1C5-99F2-E3C7-2164C982B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DDF0B-104A-1CEE-D984-AE5AADC52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14078-268C-402F-9E7C-34A765816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85" y="2133601"/>
            <a:ext cx="11432116" cy="3992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6 Data Balancing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Purpose:</a:t>
            </a:r>
            <a:r>
              <a:rPr lang="en-US" dirty="0"/>
              <a:t> Handle </a:t>
            </a:r>
            <a:r>
              <a:rPr lang="en-US" b="1" dirty="0"/>
              <a:t>imbalanced datasets</a:t>
            </a:r>
            <a:r>
              <a:rPr lang="en-US" dirty="0"/>
              <a:t> in classification problems.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Techniques:</a:t>
            </a:r>
            <a:endParaRPr lang="en-US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Oversampling (e.g., SMOTE)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 err="1"/>
              <a:t>Undersampling</a:t>
            </a:r>
            <a:endParaRPr lang="en-US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Synthetic data generation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Example:</a:t>
            </a:r>
            <a:r>
              <a:rPr lang="en-US" dirty="0"/>
              <a:t> Fraud detection datasets often have 1% fraud cases; balancing helps improve model performance.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9E9AB-BE4D-ACE4-7AE8-6FEAFCEBD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0923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29954-55C4-3A0D-F4F3-5C524A33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2906A-CFED-4BF8-663C-2AD370834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Benefits of 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DE338-E576-74B0-18F1-6227512B6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85" y="2133601"/>
            <a:ext cx="11432116" cy="39925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Improves </a:t>
            </a:r>
            <a:r>
              <a:rPr lang="en-US" b="1" dirty="0"/>
              <a:t>data quality</a:t>
            </a:r>
            <a:r>
              <a:rPr lang="en-US" dirty="0"/>
              <a:t> and </a:t>
            </a:r>
            <a:r>
              <a:rPr lang="en-US" b="1" dirty="0"/>
              <a:t>mines meaningful patterns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Reduces </a:t>
            </a:r>
            <a:r>
              <a:rPr lang="en-US" b="1" dirty="0"/>
              <a:t>computation time</a:t>
            </a:r>
            <a:r>
              <a:rPr lang="en-US" dirty="0"/>
              <a:t> for algorithms.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Handles </a:t>
            </a:r>
            <a:r>
              <a:rPr lang="en-US" b="1" dirty="0"/>
              <a:t>noise, missing values, and inconsistencies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Enhances </a:t>
            </a:r>
            <a:r>
              <a:rPr lang="en-US" b="1" dirty="0"/>
              <a:t>accuracy, reliability, and interpretability</a:t>
            </a:r>
            <a:r>
              <a:rPr lang="en-US" dirty="0"/>
              <a:t> of data mining results.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56247-1A6B-82CA-DD6E-B7F29B891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2274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1859494" y="595100"/>
            <a:ext cx="3232896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1885732" y="1802837"/>
            <a:ext cx="80648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i="1" dirty="0"/>
              <a:t>Data Mining Concepts and Techniques-J. Han et al. 3</a:t>
            </a:r>
            <a:r>
              <a:rPr lang="en-US" sz="2400" i="1" baseline="30000" dirty="0"/>
              <a:t>rd</a:t>
            </a:r>
            <a:r>
              <a:rPr lang="en-US" sz="2400" i="1" dirty="0"/>
              <a:t> Edition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2016</TotalTime>
  <Words>2611</Words>
  <Application>Microsoft Office PowerPoint</Application>
  <PresentationFormat>Widescreen</PresentationFormat>
  <Paragraphs>324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Corbel</vt:lpstr>
      <vt:lpstr>Wingdings</vt:lpstr>
      <vt:lpstr>Spectrum</vt:lpstr>
      <vt:lpstr>AIUB </vt:lpstr>
      <vt:lpstr>Course Learning Outcomes (CLOs)</vt:lpstr>
      <vt:lpstr>Schedule of Midterm Weeks</vt:lpstr>
      <vt:lpstr>Schedule of Final Term Weeks.</vt:lpstr>
      <vt:lpstr>Course Evaluation</vt:lpstr>
      <vt:lpstr>Policy</vt:lpstr>
      <vt:lpstr>PowerPoint Presentation</vt:lpstr>
      <vt:lpstr>What is Data Mining?</vt:lpstr>
      <vt:lpstr>Key Concept</vt:lpstr>
      <vt:lpstr>Motivation for Data Mining</vt:lpstr>
      <vt:lpstr>Applications</vt:lpstr>
      <vt:lpstr>KDD</vt:lpstr>
      <vt:lpstr>Data Mining Functionalities</vt:lpstr>
      <vt:lpstr>Descriptive Data Mining</vt:lpstr>
      <vt:lpstr>Predictive DM</vt:lpstr>
      <vt:lpstr>Major Issues and Challenges in Data Mining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Preprocessing</vt:lpstr>
      <vt:lpstr>Steps in Data Preprocessing</vt:lpstr>
      <vt:lpstr>Data Preprocessing</vt:lpstr>
      <vt:lpstr>Data Preprocessing</vt:lpstr>
      <vt:lpstr>Data Preprocessing</vt:lpstr>
      <vt:lpstr>Data Preprocessing</vt:lpstr>
      <vt:lpstr>Data Preprocessing</vt:lpstr>
      <vt:lpstr>Benefits of Data Preprocessing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Mustafizur Rahman Maruf</cp:lastModifiedBy>
  <cp:revision>64</cp:revision>
  <dcterms:created xsi:type="dcterms:W3CDTF">2018-12-10T17:20:29Z</dcterms:created>
  <dcterms:modified xsi:type="dcterms:W3CDTF">2025-11-01T15:50:37Z</dcterms:modified>
</cp:coreProperties>
</file>