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sldIdLst>
    <p:sldId id="256" r:id="rId2"/>
    <p:sldId id="398" r:id="rId3"/>
    <p:sldId id="399" r:id="rId4"/>
    <p:sldId id="400" r:id="rId5"/>
    <p:sldId id="401" r:id="rId6"/>
    <p:sldId id="402" r:id="rId7"/>
    <p:sldId id="404" r:id="rId8"/>
    <p:sldId id="405" r:id="rId9"/>
    <p:sldId id="406" r:id="rId10"/>
    <p:sldId id="407" r:id="rId11"/>
    <p:sldId id="408" r:id="rId12"/>
    <p:sldId id="409" r:id="rId13"/>
    <p:sldId id="387" r:id="rId14"/>
    <p:sldId id="388" r:id="rId15"/>
    <p:sldId id="389" r:id="rId16"/>
    <p:sldId id="390" r:id="rId17"/>
    <p:sldId id="391" r:id="rId18"/>
    <p:sldId id="410" r:id="rId19"/>
    <p:sldId id="392" r:id="rId20"/>
    <p:sldId id="393" r:id="rId21"/>
    <p:sldId id="394" r:id="rId22"/>
    <p:sldId id="395" r:id="rId23"/>
    <p:sldId id="396" r:id="rId24"/>
    <p:sldId id="397" r:id="rId25"/>
    <p:sldId id="411" r:id="rId26"/>
    <p:sldId id="412" r:id="rId27"/>
    <p:sldId id="413" r:id="rId28"/>
    <p:sldId id="414" r:id="rId29"/>
    <p:sldId id="415" r:id="rId30"/>
    <p:sldId id="416" r:id="rId31"/>
    <p:sldId id="417" r:id="rId32"/>
    <p:sldId id="419" r:id="rId33"/>
    <p:sldId id="420" r:id="rId34"/>
    <p:sldId id="418" r:id="rId35"/>
    <p:sldId id="277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49EDE4-0336-47E8-85B0-850AA70AC7C1}" v="62" dt="2025-11-02T03:21:08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566" autoAdjust="0"/>
  </p:normalViewPr>
  <p:slideViewPr>
    <p:cSldViewPr snapToGrid="0" snapToObjects="1">
      <p:cViewPr varScale="1">
        <p:scale>
          <a:sx n="106" d="100"/>
          <a:sy n="106" d="100"/>
        </p:scale>
        <p:origin x="792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 M Shamim Kaiser" userId="a44b7aff27b7bf8e" providerId="LiveId" clId="{20768546-57A1-4895-8457-2FFE681B0DDE}"/>
    <pc:docChg chg="custSel addSld delSld modSld">
      <pc:chgData name="Prof M Shamim Kaiser" userId="a44b7aff27b7bf8e" providerId="LiveId" clId="{20768546-57A1-4895-8457-2FFE681B0DDE}" dt="2025-11-02T03:21:09.062" v="165" actId="27636"/>
      <pc:docMkLst>
        <pc:docMk/>
      </pc:docMkLst>
      <pc:sldChg chg="modSp new mod">
        <pc:chgData name="Prof M Shamim Kaiser" userId="a44b7aff27b7bf8e" providerId="LiveId" clId="{20768546-57A1-4895-8457-2FFE681B0DDE}" dt="2025-11-02T03:15:09.381" v="21" actId="6549"/>
        <pc:sldMkLst>
          <pc:docMk/>
          <pc:sldMk cId="804862960" sldId="411"/>
        </pc:sldMkLst>
        <pc:spChg chg="mod">
          <ac:chgData name="Prof M Shamim Kaiser" userId="a44b7aff27b7bf8e" providerId="LiveId" clId="{20768546-57A1-4895-8457-2FFE681B0DDE}" dt="2025-11-02T03:14:38.273" v="13" actId="27636"/>
          <ac:spMkLst>
            <pc:docMk/>
            <pc:sldMk cId="804862960" sldId="411"/>
            <ac:spMk id="2" creationId="{2C389065-625B-7D5A-6C50-AA8D8D30B5CC}"/>
          </ac:spMkLst>
        </pc:spChg>
        <pc:spChg chg="mod">
          <ac:chgData name="Prof M Shamim Kaiser" userId="a44b7aff27b7bf8e" providerId="LiveId" clId="{20768546-57A1-4895-8457-2FFE681B0DDE}" dt="2025-11-02T03:15:09.381" v="21" actId="6549"/>
          <ac:spMkLst>
            <pc:docMk/>
            <pc:sldMk cId="804862960" sldId="411"/>
            <ac:spMk id="3" creationId="{607C58B0-7B54-1345-4507-EED2B761B170}"/>
          </ac:spMkLst>
        </pc:spChg>
      </pc:sldChg>
      <pc:sldChg chg="add del">
        <pc:chgData name="Prof M Shamim Kaiser" userId="a44b7aff27b7bf8e" providerId="LiveId" clId="{20768546-57A1-4895-8457-2FFE681B0DDE}" dt="2025-11-02T03:13:45.812" v="3"/>
        <pc:sldMkLst>
          <pc:docMk/>
          <pc:sldMk cId="923880509" sldId="412"/>
        </pc:sldMkLst>
      </pc:sldChg>
      <pc:sldChg chg="modSp add mod">
        <pc:chgData name="Prof M Shamim Kaiser" userId="a44b7aff27b7bf8e" providerId="LiveId" clId="{20768546-57A1-4895-8457-2FFE681B0DDE}" dt="2025-11-02T03:16:40.934" v="76" actId="27636"/>
        <pc:sldMkLst>
          <pc:docMk/>
          <pc:sldMk cId="1131032048" sldId="412"/>
        </pc:sldMkLst>
        <pc:spChg chg="mod">
          <ac:chgData name="Prof M Shamim Kaiser" userId="a44b7aff27b7bf8e" providerId="LiveId" clId="{20768546-57A1-4895-8457-2FFE681B0DDE}" dt="2025-11-02T03:16:40.934" v="76" actId="27636"/>
          <ac:spMkLst>
            <pc:docMk/>
            <pc:sldMk cId="1131032048" sldId="412"/>
            <ac:spMk id="3" creationId="{2D31C56B-CE00-C955-A729-23780F38CE4B}"/>
          </ac:spMkLst>
        </pc:spChg>
      </pc:sldChg>
      <pc:sldChg chg="modSp add mod">
        <pc:chgData name="Prof M Shamim Kaiser" userId="a44b7aff27b7bf8e" providerId="LiveId" clId="{20768546-57A1-4895-8457-2FFE681B0DDE}" dt="2025-11-02T03:17:12.145" v="85" actId="27636"/>
        <pc:sldMkLst>
          <pc:docMk/>
          <pc:sldMk cId="2522165540" sldId="413"/>
        </pc:sldMkLst>
        <pc:spChg chg="mod">
          <ac:chgData name="Prof M Shamim Kaiser" userId="a44b7aff27b7bf8e" providerId="LiveId" clId="{20768546-57A1-4895-8457-2FFE681B0DDE}" dt="2025-11-02T03:17:12.145" v="85" actId="27636"/>
          <ac:spMkLst>
            <pc:docMk/>
            <pc:sldMk cId="2522165540" sldId="413"/>
            <ac:spMk id="3" creationId="{C4E0F2DF-3E36-DCD8-113F-F1627B17BD05}"/>
          </ac:spMkLst>
        </pc:spChg>
      </pc:sldChg>
      <pc:sldChg chg="modSp add mod">
        <pc:chgData name="Prof M Shamim Kaiser" userId="a44b7aff27b7bf8e" providerId="LiveId" clId="{20768546-57A1-4895-8457-2FFE681B0DDE}" dt="2025-11-02T03:17:29.208" v="96" actId="20577"/>
        <pc:sldMkLst>
          <pc:docMk/>
          <pc:sldMk cId="2199080835" sldId="414"/>
        </pc:sldMkLst>
        <pc:spChg chg="mod">
          <ac:chgData name="Prof M Shamim Kaiser" userId="a44b7aff27b7bf8e" providerId="LiveId" clId="{20768546-57A1-4895-8457-2FFE681B0DDE}" dt="2025-11-02T03:17:29.208" v="96" actId="20577"/>
          <ac:spMkLst>
            <pc:docMk/>
            <pc:sldMk cId="2199080835" sldId="414"/>
            <ac:spMk id="3" creationId="{89932BAB-556A-1A01-35C6-E5400FCD8AC5}"/>
          </ac:spMkLst>
        </pc:spChg>
      </pc:sldChg>
      <pc:sldChg chg="modSp add mod">
        <pc:chgData name="Prof M Shamim Kaiser" userId="a44b7aff27b7bf8e" providerId="LiveId" clId="{20768546-57A1-4895-8457-2FFE681B0DDE}" dt="2025-11-02T03:18:03.281" v="115" actId="27636"/>
        <pc:sldMkLst>
          <pc:docMk/>
          <pc:sldMk cId="1600776451" sldId="415"/>
        </pc:sldMkLst>
        <pc:spChg chg="mod">
          <ac:chgData name="Prof M Shamim Kaiser" userId="a44b7aff27b7bf8e" providerId="LiveId" clId="{20768546-57A1-4895-8457-2FFE681B0DDE}" dt="2025-11-02T03:18:03.281" v="115" actId="27636"/>
          <ac:spMkLst>
            <pc:docMk/>
            <pc:sldMk cId="1600776451" sldId="415"/>
            <ac:spMk id="3" creationId="{82560623-C3CC-9063-E873-8B7689E2DE8A}"/>
          </ac:spMkLst>
        </pc:spChg>
      </pc:sldChg>
      <pc:sldChg chg="modSp add mod">
        <pc:chgData name="Prof M Shamim Kaiser" userId="a44b7aff27b7bf8e" providerId="LiveId" clId="{20768546-57A1-4895-8457-2FFE681B0DDE}" dt="2025-11-02T03:18:35.371" v="135" actId="27636"/>
        <pc:sldMkLst>
          <pc:docMk/>
          <pc:sldMk cId="3393656937" sldId="416"/>
        </pc:sldMkLst>
        <pc:spChg chg="mod">
          <ac:chgData name="Prof M Shamim Kaiser" userId="a44b7aff27b7bf8e" providerId="LiveId" clId="{20768546-57A1-4895-8457-2FFE681B0DDE}" dt="2025-11-02T03:18:35.371" v="135" actId="27636"/>
          <ac:spMkLst>
            <pc:docMk/>
            <pc:sldMk cId="3393656937" sldId="416"/>
            <ac:spMk id="3" creationId="{ACF0AB0B-985D-4349-7DB9-E80491A0D387}"/>
          </ac:spMkLst>
        </pc:spChg>
      </pc:sldChg>
      <pc:sldChg chg="modSp add mod">
        <pc:chgData name="Prof M Shamim Kaiser" userId="a44b7aff27b7bf8e" providerId="LiveId" clId="{20768546-57A1-4895-8457-2FFE681B0DDE}" dt="2025-11-02T03:20:38.771" v="160" actId="6549"/>
        <pc:sldMkLst>
          <pc:docMk/>
          <pc:sldMk cId="891888198" sldId="417"/>
        </pc:sldMkLst>
        <pc:spChg chg="mod">
          <ac:chgData name="Prof M Shamim Kaiser" userId="a44b7aff27b7bf8e" providerId="LiveId" clId="{20768546-57A1-4895-8457-2FFE681B0DDE}" dt="2025-11-02T03:20:38.771" v="160" actId="6549"/>
          <ac:spMkLst>
            <pc:docMk/>
            <pc:sldMk cId="891888198" sldId="417"/>
            <ac:spMk id="3" creationId="{7F761C06-99EF-FF3F-F808-68A973B90974}"/>
          </ac:spMkLst>
        </pc:spChg>
      </pc:sldChg>
      <pc:sldChg chg="add">
        <pc:chgData name="Prof M Shamim Kaiser" userId="a44b7aff27b7bf8e" providerId="LiveId" clId="{20768546-57A1-4895-8457-2FFE681B0DDE}" dt="2025-11-02T03:17:34.476" v="99"/>
        <pc:sldMkLst>
          <pc:docMk/>
          <pc:sldMk cId="3304320228" sldId="418"/>
        </pc:sldMkLst>
      </pc:sldChg>
      <pc:sldChg chg="modSp new">
        <pc:chgData name="Prof M Shamim Kaiser" userId="a44b7aff27b7bf8e" providerId="LiveId" clId="{20768546-57A1-4895-8457-2FFE681B0DDE}" dt="2025-11-02T03:20:58.103" v="162"/>
        <pc:sldMkLst>
          <pc:docMk/>
          <pc:sldMk cId="201101455" sldId="419"/>
        </pc:sldMkLst>
        <pc:spChg chg="mod">
          <ac:chgData name="Prof M Shamim Kaiser" userId="a44b7aff27b7bf8e" providerId="LiveId" clId="{20768546-57A1-4895-8457-2FFE681B0DDE}" dt="2025-11-02T03:20:58.103" v="162"/>
          <ac:spMkLst>
            <pc:docMk/>
            <pc:sldMk cId="201101455" sldId="419"/>
            <ac:spMk id="3" creationId="{E5AB4066-1D6D-A580-B499-7C5896CF8558}"/>
          </ac:spMkLst>
        </pc:spChg>
      </pc:sldChg>
      <pc:sldChg chg="modSp new mod">
        <pc:chgData name="Prof M Shamim Kaiser" userId="a44b7aff27b7bf8e" providerId="LiveId" clId="{20768546-57A1-4895-8457-2FFE681B0DDE}" dt="2025-11-02T03:21:09.062" v="165" actId="27636"/>
        <pc:sldMkLst>
          <pc:docMk/>
          <pc:sldMk cId="2372954818" sldId="420"/>
        </pc:sldMkLst>
        <pc:spChg chg="mod">
          <ac:chgData name="Prof M Shamim Kaiser" userId="a44b7aff27b7bf8e" providerId="LiveId" clId="{20768546-57A1-4895-8457-2FFE681B0DDE}" dt="2025-11-02T03:21:09.062" v="165" actId="27636"/>
          <ac:spMkLst>
            <pc:docMk/>
            <pc:sldMk cId="2372954818" sldId="420"/>
            <ac:spMk id="3" creationId="{05B63C37-9739-F419-1C52-040FBF1A63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13DDF-8C9F-41ED-BCA0-DFAC852E1B28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1CEC4-8705-463B-9A79-B2018D53849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4630E-50CB-41D4-B880-9F9D7FA7BA29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7627" y="441783"/>
            <a:ext cx="1572257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E53B5-49FB-46D3-8DDC-FF194BFECA44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B3357-3270-44AD-8313-0626A2642B80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F85F5-738C-480D-8B46-1B1B3DA4FF26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20414-9D97-4B74-A477-A764E0D269A0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15-530B-454C-ADA2-7F2157207175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8430-5DBF-4BDF-AAA2-FD9FC4A2D81F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0C2E2-3F23-42C1-AFF2-4509F057067A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1CE5-8CD7-468E-85A4-78CEAD3625E5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ADB23-474F-49A8-A23D-7A0E84AD2BE6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5E30-D25B-4216-A7A0-BE8AD9B7E327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8EFD5-F0AF-4965-A66C-E35F81ABEC91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A2D2-B87B-4847-9811-8BF83A23C0A4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2871-21BD-4EDE-AE57-59E17BF237ED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F78AD-1CB0-4608-B3A1-669F93264AC6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42CD-9A58-4A2A-A626-496AF398B07A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54EAB5B0-AB84-48D4-BAFB-665F1E7B35E0}" type="datetime1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AIUB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b="1" dirty="0"/>
              <a:t>CSC5307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993359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24-25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Instructor: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b="1" i="1" dirty="0"/>
                        <a:t>M Shamim Kaiser (m.shamimkaiser@outlook.com)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b="1" dirty="0"/>
              <a:t>Data Warehousing &amp; Data Mining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EAE5-E387-2377-057C-694D5361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an Attribute?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259A-64C6-9AE8-3354-66F7FB589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2" y="2133601"/>
            <a:ext cx="11311380" cy="3992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An </a:t>
            </a:r>
            <a:r>
              <a:rPr lang="en-US" b="1" dirty="0"/>
              <a:t>attribute</a:t>
            </a:r>
            <a:r>
              <a:rPr lang="en-US" dirty="0"/>
              <a:t> (also called a </a:t>
            </a:r>
            <a:r>
              <a:rPr lang="en-US" b="1" dirty="0"/>
              <a:t>feature</a:t>
            </a:r>
            <a:r>
              <a:rPr lang="en-US" dirty="0"/>
              <a:t>, </a:t>
            </a:r>
            <a:r>
              <a:rPr lang="en-US" b="1" dirty="0"/>
              <a:t>field</a:t>
            </a:r>
            <a:r>
              <a:rPr lang="en-US" dirty="0"/>
              <a:t>, or </a:t>
            </a:r>
            <a:r>
              <a:rPr lang="en-US" b="1" dirty="0"/>
              <a:t>variable</a:t>
            </a:r>
            <a:r>
              <a:rPr lang="en-US" dirty="0"/>
              <a:t>) is a property or characteristic of a data object that describes it.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data object</a:t>
            </a:r>
            <a:r>
              <a:rPr lang="en-US" dirty="0"/>
              <a:t> (also known as a </a:t>
            </a:r>
            <a:r>
              <a:rPr lang="en-US" b="1" dirty="0"/>
              <a:t>record</a:t>
            </a:r>
            <a:r>
              <a:rPr lang="en-US" dirty="0"/>
              <a:t>, </a:t>
            </a:r>
            <a:r>
              <a:rPr lang="en-US" b="1" dirty="0"/>
              <a:t>tuple</a:t>
            </a:r>
            <a:r>
              <a:rPr lang="en-US" dirty="0"/>
              <a:t>, or </a:t>
            </a:r>
            <a:r>
              <a:rPr lang="en-US" b="1" dirty="0"/>
              <a:t>instance</a:t>
            </a:r>
            <a:r>
              <a:rPr lang="en-US" dirty="0"/>
              <a:t>) represents an entity in the dataset — such as a person, product, or event.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Each data object is described by a set of attributes.</a:t>
            </a:r>
          </a:p>
          <a:p>
            <a:pPr lvl="1"/>
            <a:r>
              <a:rPr lang="en-US" sz="2000" b="1" dirty="0"/>
              <a:t>Data Object:</a:t>
            </a:r>
            <a:r>
              <a:rPr lang="en-US" sz="2000" dirty="0"/>
              <a:t> Each row (e.g., S001, S002)</a:t>
            </a:r>
          </a:p>
          <a:p>
            <a:pPr lvl="1"/>
            <a:r>
              <a:rPr lang="en-US" sz="2000" b="1" dirty="0"/>
              <a:t>Attributes:</a:t>
            </a:r>
            <a:r>
              <a:rPr lang="en-US" sz="2000" dirty="0"/>
              <a:t> </a:t>
            </a:r>
            <a:r>
              <a:rPr lang="en-US" sz="2000" dirty="0" err="1"/>
              <a:t>Student_ID</a:t>
            </a:r>
            <a:r>
              <a:rPr lang="en-US" sz="2000" dirty="0"/>
              <a:t>, Name, Gender, Age, GPA</a:t>
            </a:r>
          </a:p>
          <a:p>
            <a:pPr lvl="1"/>
            <a:r>
              <a:rPr lang="en-US" sz="2000" dirty="0"/>
              <a:t>So, attributes describe the characteristics of data objects.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4C396-C9BB-24F8-4D61-35213BF2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B2A4C7-75F0-2BFE-7B66-DA0D2B6C7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241996"/>
              </p:ext>
            </p:extLst>
          </p:nvPr>
        </p:nvGraphicFramePr>
        <p:xfrm>
          <a:off x="2059593" y="5678978"/>
          <a:ext cx="94361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87220">
                  <a:extLst>
                    <a:ext uri="{9D8B030D-6E8A-4147-A177-3AD203B41FA5}">
                      <a16:colId xmlns:a16="http://schemas.microsoft.com/office/drawing/2014/main" val="1155234144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560683903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4089728753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270040550"/>
                    </a:ext>
                  </a:extLst>
                </a:gridCol>
                <a:gridCol w="1887220">
                  <a:extLst>
                    <a:ext uri="{9D8B030D-6E8A-4147-A177-3AD203B41FA5}">
                      <a16:colId xmlns:a16="http://schemas.microsoft.com/office/drawing/2014/main" val="9364970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697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Rahim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3149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097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625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2412-25A1-62A0-92AD-9C8F6D75A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Nominal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5870-5112-A11B-5B3D-58EDBA13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b="1" dirty="0"/>
              <a:t>nominal attribute</a:t>
            </a:r>
            <a:r>
              <a:rPr lang="en-US" dirty="0"/>
              <a:t> is a type of </a:t>
            </a:r>
            <a:r>
              <a:rPr lang="en-US" b="1" dirty="0"/>
              <a:t>categorical attribute</a:t>
            </a:r>
            <a:r>
              <a:rPr lang="en-US" dirty="0"/>
              <a:t> that represents </a:t>
            </a:r>
            <a:r>
              <a:rPr lang="en-US" b="1" dirty="0"/>
              <a:t>names or labels</a:t>
            </a:r>
            <a:r>
              <a:rPr lang="en-US" dirty="0"/>
              <a:t>. The values have </a:t>
            </a:r>
            <a:r>
              <a:rPr lang="en-US" b="1" dirty="0"/>
              <a:t>no ordering or ranking</a:t>
            </a:r>
            <a:r>
              <a:rPr lang="en-US" dirty="0"/>
              <a:t> — they simply identify categories. </a:t>
            </a:r>
            <a:r>
              <a:rPr lang="en-US" b="1" dirty="0"/>
              <a:t>Examples: Gender:</a:t>
            </a:r>
            <a:r>
              <a:rPr lang="en-US" dirty="0"/>
              <a:t> {Male, Female, Other}</a:t>
            </a:r>
          </a:p>
          <a:p>
            <a:pPr lvl="1"/>
            <a:r>
              <a:rPr lang="en-US" b="1" dirty="0"/>
              <a:t>Color:</a:t>
            </a:r>
            <a:r>
              <a:rPr lang="en-US" dirty="0"/>
              <a:t> {Red, Green, Blue}; </a:t>
            </a:r>
            <a:r>
              <a:rPr lang="en-US" b="1" dirty="0"/>
              <a:t>City:</a:t>
            </a:r>
            <a:r>
              <a:rPr lang="en-US" dirty="0"/>
              <a:t> {Dhaka, Chattogram, Khulna}</a:t>
            </a:r>
          </a:p>
          <a:p>
            <a:pPr lvl="1"/>
            <a:r>
              <a:rPr lang="en-US" dirty="0"/>
              <a:t>Nominal values are often represented using: </a:t>
            </a:r>
            <a:r>
              <a:rPr lang="en-US" b="1" dirty="0"/>
              <a:t>Integers:</a:t>
            </a:r>
            <a:r>
              <a:rPr lang="en-US" dirty="0"/>
              <a:t> e.g., Male = 1, Female = 2</a:t>
            </a:r>
          </a:p>
          <a:p>
            <a:pPr lvl="1"/>
            <a:r>
              <a:rPr lang="en-US" b="1" dirty="0"/>
              <a:t>One-hot encoding:</a:t>
            </a:r>
            <a:r>
              <a:rPr lang="en-US" dirty="0"/>
              <a:t> e.g., Red = (1,0,0), Green = (0,1,0), Blue = (0,0,1)</a:t>
            </a:r>
          </a:p>
          <a:p>
            <a:pPr lvl="1"/>
            <a:r>
              <a:rPr lang="en-US" b="1" dirty="0"/>
              <a:t>Example Table: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F38A9-4CE4-71A7-ECC1-D18E7FDC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014483-810B-C343-5DF3-9BA77FAE3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239780"/>
              </p:ext>
            </p:extLst>
          </p:nvPr>
        </p:nvGraphicFramePr>
        <p:xfrm>
          <a:off x="1639178" y="4982065"/>
          <a:ext cx="9436101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1170517875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487202563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10728340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Product_ID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881731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Clothing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31853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Electronics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89144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04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18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25B6-42C9-0A20-08EA-951D7F4E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Binary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6D04-EF7A-62C2-B56F-D12EE472D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b="1" dirty="0"/>
              <a:t>binary attribute</a:t>
            </a:r>
            <a:r>
              <a:rPr lang="en-US" dirty="0"/>
              <a:t> is a </a:t>
            </a:r>
            <a:r>
              <a:rPr lang="en-US" b="1" dirty="0"/>
              <a:t>special case of nominal attribute</a:t>
            </a:r>
            <a:r>
              <a:rPr lang="en-US" dirty="0"/>
              <a:t> with </a:t>
            </a:r>
            <a:r>
              <a:rPr lang="en-US" b="1" dirty="0"/>
              <a:t>only two possible values</a:t>
            </a:r>
            <a:r>
              <a:rPr lang="en-US" dirty="0"/>
              <a:t> — usually represented as </a:t>
            </a:r>
            <a:r>
              <a:rPr lang="en-US" b="1" dirty="0"/>
              <a:t>0 and 1</a:t>
            </a:r>
            <a:r>
              <a:rPr lang="en-US" dirty="0"/>
              <a:t>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Types of Binary Attributes: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Symmetric Binary Attribute: </a:t>
            </a:r>
            <a:r>
              <a:rPr lang="en-US" dirty="0"/>
              <a:t>Both values are equally important (e.g., Gender: Male/Female).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Asymmetric Binary Attribute: </a:t>
            </a:r>
            <a:r>
              <a:rPr lang="en-US" dirty="0"/>
              <a:t>One value is more significant (e.g., Disease: Present/Absent — only “Present” matters).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Examples: Gender:</a:t>
            </a:r>
            <a:r>
              <a:rPr lang="en-US" dirty="0"/>
              <a:t> Male (0), Female (1); </a:t>
            </a:r>
            <a:r>
              <a:rPr lang="en-US" b="1" dirty="0" err="1"/>
              <a:t>Loan_Approved</a:t>
            </a:r>
            <a:r>
              <a:rPr lang="en-US" b="1" dirty="0"/>
              <a:t>:</a:t>
            </a:r>
            <a:r>
              <a:rPr lang="en-US" dirty="0"/>
              <a:t> Yes (1), No (0). </a:t>
            </a:r>
            <a:r>
              <a:rPr lang="en-US" b="1" dirty="0" err="1"/>
              <a:t>Spam_Email</a:t>
            </a:r>
            <a:r>
              <a:rPr lang="en-US" b="1" dirty="0"/>
              <a:t>:</a:t>
            </a:r>
            <a:r>
              <a:rPr lang="en-US" dirty="0"/>
              <a:t> Spam (1), Not Spam (0)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44C4C-E0AC-3C3F-78E1-913BA5E52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3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C69BD-FDAF-C473-FCD7-1AFA7FAA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B1A487-5581-849E-67E9-FDD29E1DDC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1234126"/>
              </p:ext>
            </p:extLst>
          </p:nvPr>
        </p:nvGraphicFramePr>
        <p:xfrm>
          <a:off x="1224830" y="3058996"/>
          <a:ext cx="9436101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948437017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1755559710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57885477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Customer_ID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Defaulted_Loan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VIP_Member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309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 (No)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 (Yes)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5768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 (Yes)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 (No)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81533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 (No)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 (Yes)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43244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DEFB2-B805-1E79-B88C-8F3FE0FF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17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7AE5-3668-730F-A3FC-88CB0FF8E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Ordinal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DD60A-BC8C-840C-56B5-A14ED93D0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b="1" dirty="0"/>
              <a:t>ordinal attribute</a:t>
            </a:r>
            <a:r>
              <a:rPr lang="en-US" dirty="0"/>
              <a:t> has </a:t>
            </a:r>
            <a:r>
              <a:rPr lang="en-US" b="1" dirty="0"/>
              <a:t>categories with an order or ranking</a:t>
            </a:r>
            <a:r>
              <a:rPr lang="en-US" dirty="0"/>
              <a:t>, but </a:t>
            </a:r>
            <a:r>
              <a:rPr lang="en-US" b="1" dirty="0"/>
              <a:t>the differences between ranks are not measurable</a:t>
            </a:r>
            <a:r>
              <a:rPr lang="en-US" dirty="0"/>
              <a:t>. In other words, you can say </a:t>
            </a:r>
            <a:r>
              <a:rPr lang="en-US" b="1" dirty="0"/>
              <a:t>which is greater</a:t>
            </a:r>
            <a:r>
              <a:rPr lang="en-US" dirty="0"/>
              <a:t>, but not </a:t>
            </a:r>
            <a:r>
              <a:rPr lang="en-US" b="1" dirty="0"/>
              <a:t>by how much</a:t>
            </a:r>
            <a:r>
              <a:rPr lang="en-US" dirty="0"/>
              <a:t>.</a:t>
            </a:r>
          </a:p>
          <a:p>
            <a:r>
              <a:rPr lang="en-US" b="1" dirty="0"/>
              <a:t>Examples: Education Level:</a:t>
            </a:r>
            <a:r>
              <a:rPr lang="en-US" dirty="0"/>
              <a:t> {Primary &lt; Secondary &lt; College &lt; University}; </a:t>
            </a:r>
            <a:r>
              <a:rPr lang="en-US" b="1" dirty="0"/>
              <a:t>Customer Satisfaction:</a:t>
            </a:r>
            <a:r>
              <a:rPr lang="en-US" dirty="0"/>
              <a:t> {Poor &lt; Fair &lt; Good &lt; Excellent}; </a:t>
            </a:r>
            <a:r>
              <a:rPr lang="en-US" b="1" dirty="0"/>
              <a:t>Grades:</a:t>
            </a:r>
            <a:r>
              <a:rPr lang="en-US" dirty="0"/>
              <a:t> {A, B, C, D, F}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4EFF9-4F50-3F00-F75D-ACD31D30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34D745-3B57-2CB3-5FBB-B13A2E2999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8939377"/>
              </p:ext>
            </p:extLst>
          </p:nvPr>
        </p:nvGraphicFramePr>
        <p:xfrm>
          <a:off x="1498207" y="4764578"/>
          <a:ext cx="4393546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95064">
                  <a:extLst>
                    <a:ext uri="{9D8B030D-6E8A-4147-A177-3AD203B41FA5}">
                      <a16:colId xmlns:a16="http://schemas.microsoft.com/office/drawing/2014/main" val="423272471"/>
                    </a:ext>
                  </a:extLst>
                </a:gridCol>
                <a:gridCol w="1998482">
                  <a:extLst>
                    <a:ext uri="{9D8B030D-6E8A-4147-A177-3AD203B41FA5}">
                      <a16:colId xmlns:a16="http://schemas.microsoft.com/office/drawing/2014/main" val="2156967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Customer_ID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Satisfaction_Level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0563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2445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50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Fair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7923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7620C3D-180A-AC26-3798-167E3A16E107}"/>
              </a:ext>
            </a:extLst>
          </p:cNvPr>
          <p:cNvSpPr txBox="1"/>
          <p:nvPr/>
        </p:nvSpPr>
        <p:spPr>
          <a:xfrm>
            <a:off x="6758165" y="4871182"/>
            <a:ext cx="39356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order </a:t>
            </a:r>
            <a:r>
              <a:rPr lang="en-US" b="1" dirty="0"/>
              <a:t>Fair &lt; Good &lt; Excellent</a:t>
            </a:r>
            <a:r>
              <a:rPr lang="en-US" dirty="0"/>
              <a:t> has meaning, but the exact difference between “Fair” and “Good” cannot be quantified.</a:t>
            </a:r>
          </a:p>
        </p:txBody>
      </p:sp>
    </p:spTree>
    <p:extLst>
      <p:ext uri="{BB962C8B-B14F-4D97-AF65-F5344CB8AC3E}">
        <p14:creationId xmlns:p14="http://schemas.microsoft.com/office/powerpoint/2010/main" val="248193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E65FF-DB71-CB15-E849-04B307326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Numeric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6B29-DAF0-0AFC-362A-3E5D499E7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Autofit/>
          </a:bodyPr>
          <a:lstStyle/>
          <a:p>
            <a:r>
              <a:rPr lang="en-US" sz="2000" dirty="0"/>
              <a:t>A numeric (quantitative) attribute represents measurable quantities. Mathematical operations (addition, subtraction, average) are meaningful on numeric attributes.</a:t>
            </a:r>
          </a:p>
          <a:p>
            <a:r>
              <a:rPr lang="en-US" sz="2000" dirty="0"/>
              <a:t>Numeric attributes are of two types: Interval Attributes and Ratio Attributes</a:t>
            </a:r>
          </a:p>
          <a:p>
            <a:r>
              <a:rPr lang="en-US" sz="2000" dirty="0"/>
              <a:t>Interval Attributes</a:t>
            </a:r>
          </a:p>
          <a:p>
            <a:pPr lvl="1"/>
            <a:r>
              <a:rPr lang="en-US" sz="1800" dirty="0"/>
              <a:t>Have meaningful differences between values.</a:t>
            </a:r>
          </a:p>
          <a:p>
            <a:pPr lvl="1"/>
            <a:r>
              <a:rPr lang="en-US" sz="1800" dirty="0"/>
              <a:t>No true zero point (zero does not mean absence).</a:t>
            </a:r>
          </a:p>
          <a:p>
            <a:r>
              <a:rPr lang="en-US" sz="2000" dirty="0"/>
              <a:t>Examples: Temperature (°C): 0°C does not mean “no temperature.”; Dates: The difference between 2000 and 2020 is 20 years, but “year 0” is arbitrary.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B40AA-8510-4387-4767-34DE60E0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5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745C-EE82-8598-2E70-2BB7383C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9B5B9E-9ACE-AFA2-A681-58C66F043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214592"/>
              </p:ext>
            </p:extLst>
          </p:nvPr>
        </p:nvGraphicFramePr>
        <p:xfrm>
          <a:off x="1277620" y="2720181"/>
          <a:ext cx="94361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718050">
                  <a:extLst>
                    <a:ext uri="{9D8B030D-6E8A-4147-A177-3AD203B41FA5}">
                      <a16:colId xmlns:a16="http://schemas.microsoft.com/office/drawing/2014/main" val="2029855608"/>
                    </a:ext>
                  </a:extLst>
                </a:gridCol>
                <a:gridCol w="4718050">
                  <a:extLst>
                    <a:ext uri="{9D8B030D-6E8A-4147-A177-3AD203B41FA5}">
                      <a16:colId xmlns:a16="http://schemas.microsoft.com/office/drawing/2014/main" val="2898031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Temperature (°C)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923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Dhaka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0859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Chattogram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82881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FF588D-3B49-0C11-76C4-360B8397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BF1FEB-2D40-538E-14EF-D35A7422D229}"/>
              </a:ext>
            </a:extLst>
          </p:cNvPr>
          <p:cNvSpPr txBox="1"/>
          <p:nvPr/>
        </p:nvSpPr>
        <p:spPr>
          <a:xfrm>
            <a:off x="2596082" y="4565706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compute differences (30 − 25 = 5°C), but you can’t say </a:t>
            </a:r>
            <a:r>
              <a:rPr lang="en-US" b="1" dirty="0"/>
              <a:t>Dhaka is 1.2 times hotter</a:t>
            </a:r>
            <a:r>
              <a:rPr lang="en-US" dirty="0"/>
              <a:t> — because zero is arbitrary.</a:t>
            </a:r>
          </a:p>
        </p:txBody>
      </p:sp>
    </p:spTree>
    <p:extLst>
      <p:ext uri="{BB962C8B-B14F-4D97-AF65-F5344CB8AC3E}">
        <p14:creationId xmlns:p14="http://schemas.microsoft.com/office/powerpoint/2010/main" val="355874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A457-B7CB-E2FB-3231-99E2C1FA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DF0ED-4B78-2FB9-B623-F1850E7A7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2133601"/>
            <a:ext cx="11369041" cy="3992563"/>
          </a:xfrm>
        </p:spPr>
        <p:txBody>
          <a:bodyPr>
            <a:normAutofit/>
          </a:bodyPr>
          <a:lstStyle/>
          <a:p>
            <a:r>
              <a:rPr lang="en-US" b="1" dirty="0"/>
              <a:t>Ratio Attributes</a:t>
            </a:r>
          </a:p>
          <a:p>
            <a:pPr lvl="1"/>
            <a:r>
              <a:rPr lang="en-US" dirty="0"/>
              <a:t>Have </a:t>
            </a:r>
            <a:r>
              <a:rPr lang="en-US" b="1" dirty="0"/>
              <a:t>meaningful differences and a true zero point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can perform </a:t>
            </a:r>
            <a:r>
              <a:rPr lang="en-US" b="1" dirty="0"/>
              <a:t>all arithmetic operations</a:t>
            </a:r>
            <a:r>
              <a:rPr lang="en-US" dirty="0"/>
              <a:t> (including ratios).</a:t>
            </a:r>
          </a:p>
          <a:p>
            <a:r>
              <a:rPr lang="en-US" b="1" dirty="0"/>
              <a:t>Examples: Age (years)</a:t>
            </a:r>
            <a:r>
              <a:rPr lang="en-US" dirty="0"/>
              <a:t> – 0 means “no age.” </a:t>
            </a:r>
            <a:r>
              <a:rPr lang="en-US" b="1" dirty="0"/>
              <a:t>Weight (kg)</a:t>
            </a:r>
            <a:r>
              <a:rPr lang="en-US" dirty="0"/>
              <a:t> – 0 means “no weight.” </a:t>
            </a:r>
            <a:r>
              <a:rPr lang="en-US" b="1" dirty="0"/>
              <a:t>Income (Tk)</a:t>
            </a:r>
            <a:r>
              <a:rPr lang="en-US" dirty="0"/>
              <a:t> – 0 means “no income.”</a:t>
            </a:r>
          </a:p>
          <a:p>
            <a:r>
              <a:rPr lang="en-US" b="1" dirty="0"/>
              <a:t>Example Table: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851CC-539E-AECE-3454-0FA08F79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BA0B16-6260-FC50-CDD9-C5B68C02E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283831"/>
              </p:ext>
            </p:extLst>
          </p:nvPr>
        </p:nvGraphicFramePr>
        <p:xfrm>
          <a:off x="1902460" y="5130338"/>
          <a:ext cx="9436101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3696949499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1607879644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32682093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Income (Tk)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48751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1885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60000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6002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004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FD2A-9583-64E5-8BDC-7ABEF51E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Discrete versus Continuous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AD93-BBEF-C79C-7969-9F89956C8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Discrete Attributes</a:t>
            </a:r>
            <a:endParaRPr lang="en-US" dirty="0"/>
          </a:p>
          <a:p>
            <a:r>
              <a:rPr lang="en-US" dirty="0"/>
              <a:t>Take </a:t>
            </a:r>
            <a:r>
              <a:rPr lang="en-US" b="1" dirty="0"/>
              <a:t>finite or countably infinite</a:t>
            </a:r>
            <a:r>
              <a:rPr lang="en-US" dirty="0"/>
              <a:t> number of values.</a:t>
            </a:r>
          </a:p>
          <a:p>
            <a:r>
              <a:rPr lang="en-US" dirty="0"/>
              <a:t>Often </a:t>
            </a:r>
            <a:r>
              <a:rPr lang="en-US" b="1" dirty="0"/>
              <a:t>integer-valued</a:t>
            </a:r>
            <a:r>
              <a:rPr lang="en-US" dirty="0"/>
              <a:t> and derived from counting.</a:t>
            </a:r>
          </a:p>
          <a:p>
            <a:r>
              <a:rPr lang="en-US" dirty="0"/>
              <a:t>Usually represented as </a:t>
            </a:r>
            <a:r>
              <a:rPr lang="en-US" b="1" dirty="0"/>
              <a:t>categorical or integer numbers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Number of students = 50</a:t>
            </a:r>
          </a:p>
          <a:p>
            <a:r>
              <a:rPr lang="en-US" dirty="0"/>
              <a:t>Number of cars sold = 10</a:t>
            </a:r>
          </a:p>
          <a:p>
            <a:r>
              <a:rPr lang="en-US" dirty="0"/>
              <a:t>Number of children = 3</a:t>
            </a:r>
          </a:p>
          <a:p>
            <a:r>
              <a:rPr lang="en-US" b="1" dirty="0"/>
              <a:t>Example Table: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4562C-9A3A-A6B6-5724-9AB413E3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92167-952D-D94A-C01B-BF2B4191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434319"/>
              </p:ext>
            </p:extLst>
          </p:nvPr>
        </p:nvGraphicFramePr>
        <p:xfrm>
          <a:off x="4099575" y="4552200"/>
          <a:ext cx="3517283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72894">
                  <a:extLst>
                    <a:ext uri="{9D8B030D-6E8A-4147-A177-3AD203B41FA5}">
                      <a16:colId xmlns:a16="http://schemas.microsoft.com/office/drawing/2014/main" val="3012127743"/>
                    </a:ext>
                  </a:extLst>
                </a:gridCol>
                <a:gridCol w="1744389">
                  <a:extLst>
                    <a:ext uri="{9D8B030D-6E8A-4147-A177-3AD203B41FA5}">
                      <a16:colId xmlns:a16="http://schemas.microsoft.com/office/drawing/2014/main" val="2649472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Family_ID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No_of_Children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40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121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958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555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CFD9-A633-AE63-35C3-7223B0A2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3AC0A-7A6D-69B6-67CE-83AFDB038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Continuous Attributes</a:t>
            </a:r>
            <a:endParaRPr lang="en-US" dirty="0"/>
          </a:p>
          <a:p>
            <a:r>
              <a:rPr lang="en-US" dirty="0"/>
              <a:t>Can take </a:t>
            </a:r>
            <a:r>
              <a:rPr lang="en-US" b="1" dirty="0"/>
              <a:t>any real value within a range</a:t>
            </a:r>
            <a:r>
              <a:rPr lang="en-US" dirty="0"/>
              <a:t>.</a:t>
            </a:r>
          </a:p>
          <a:p>
            <a:r>
              <a:rPr lang="en-US" dirty="0"/>
              <a:t>Derived from </a:t>
            </a:r>
            <a:r>
              <a:rPr lang="en-US" b="1" dirty="0"/>
              <a:t>measurement</a:t>
            </a:r>
            <a:r>
              <a:rPr lang="en-US" dirty="0"/>
              <a:t> rather than counting.</a:t>
            </a:r>
          </a:p>
          <a:p>
            <a:r>
              <a:rPr lang="en-US" dirty="0"/>
              <a:t>Often </a:t>
            </a:r>
            <a:r>
              <a:rPr lang="en-US" b="1" dirty="0"/>
              <a:t>represented as floating-point numbers</a:t>
            </a:r>
            <a:r>
              <a:rPr lang="en-US" dirty="0"/>
              <a:t>.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Temperature = 36.7°C</a:t>
            </a:r>
          </a:p>
          <a:p>
            <a:r>
              <a:rPr lang="en-US" dirty="0"/>
              <a:t>Height = 172.5 cm</a:t>
            </a:r>
          </a:p>
          <a:p>
            <a:r>
              <a:rPr lang="en-US" dirty="0"/>
              <a:t>Weight = 68.3 kg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CF77C-E0AC-A444-6A13-1E6DC953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5A2F2F-02CF-3894-9B2D-CE1FD2920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12950"/>
              </p:ext>
            </p:extLst>
          </p:nvPr>
        </p:nvGraphicFramePr>
        <p:xfrm>
          <a:off x="6109597" y="4112910"/>
          <a:ext cx="4035327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35567">
                  <a:extLst>
                    <a:ext uri="{9D8B030D-6E8A-4147-A177-3AD203B41FA5}">
                      <a16:colId xmlns:a16="http://schemas.microsoft.com/office/drawing/2014/main" val="70076177"/>
                    </a:ext>
                  </a:extLst>
                </a:gridCol>
                <a:gridCol w="1414020">
                  <a:extLst>
                    <a:ext uri="{9D8B030D-6E8A-4147-A177-3AD203B41FA5}">
                      <a16:colId xmlns:a16="http://schemas.microsoft.com/office/drawing/2014/main" val="3825006547"/>
                    </a:ext>
                  </a:extLst>
                </a:gridCol>
                <a:gridCol w="1385740">
                  <a:extLst>
                    <a:ext uri="{9D8B030D-6E8A-4147-A177-3AD203B41FA5}">
                      <a16:colId xmlns:a16="http://schemas.microsoft.com/office/drawing/2014/main" val="30205118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Height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Weight (kg)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3397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165.5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60.2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9791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175.8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72.4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421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4521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8604D-02F9-4DBA-AED9-2F60CFC4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51570E-934E-EC92-9384-07F2C35C7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487647"/>
              </p:ext>
            </p:extLst>
          </p:nvPr>
        </p:nvGraphicFramePr>
        <p:xfrm>
          <a:off x="1644633" y="2106070"/>
          <a:ext cx="8766176" cy="4047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1544">
                  <a:extLst>
                    <a:ext uri="{9D8B030D-6E8A-4147-A177-3AD203B41FA5}">
                      <a16:colId xmlns:a16="http://schemas.microsoft.com/office/drawing/2014/main" val="1951691341"/>
                    </a:ext>
                  </a:extLst>
                </a:gridCol>
                <a:gridCol w="2191544">
                  <a:extLst>
                    <a:ext uri="{9D8B030D-6E8A-4147-A177-3AD203B41FA5}">
                      <a16:colId xmlns:a16="http://schemas.microsoft.com/office/drawing/2014/main" val="1096995797"/>
                    </a:ext>
                  </a:extLst>
                </a:gridCol>
                <a:gridCol w="2191544">
                  <a:extLst>
                    <a:ext uri="{9D8B030D-6E8A-4147-A177-3AD203B41FA5}">
                      <a16:colId xmlns:a16="http://schemas.microsoft.com/office/drawing/2014/main" val="1109026340"/>
                    </a:ext>
                  </a:extLst>
                </a:gridCol>
                <a:gridCol w="2191544">
                  <a:extLst>
                    <a:ext uri="{9D8B030D-6E8A-4147-A177-3AD203B41FA5}">
                      <a16:colId xmlns:a16="http://schemas.microsoft.com/office/drawing/2014/main" val="1070285726"/>
                    </a:ext>
                  </a:extLst>
                </a:gridCol>
              </a:tblGrid>
              <a:tr h="339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Attribute Type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Description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Example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Operations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884061495"/>
                  </a:ext>
                </a:extLst>
              </a:tr>
              <a:tr h="594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Nominal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Names or categories with no order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Color = {Red, Green, Blue}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=, ≠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1416453255"/>
                  </a:ext>
                </a:extLst>
              </a:tr>
              <a:tr h="594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Binary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Two possible values (0/1)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Gender: Male/Female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=, ≠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3076648879"/>
                  </a:ext>
                </a:extLst>
              </a:tr>
              <a:tr h="594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Ordinal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Ordered categories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Rating: {Poor, Fair, Good, Excellent}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&lt;, &gt;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54243632"/>
                  </a:ext>
                </a:extLst>
              </a:tr>
              <a:tr h="594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– Interval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Ordered, equal spacing, no true zero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Temperature (°C)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+, −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2938125974"/>
                  </a:ext>
                </a:extLst>
              </a:tr>
              <a:tr h="594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Numeric – Ratio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Ordered, equal spacing, true zero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Age, Income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+, −, ×, ÷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463532187"/>
                  </a:ext>
                </a:extLst>
              </a:tr>
              <a:tr h="339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Discrete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Countable values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Number of students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Counting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2636714711"/>
                  </a:ext>
                </a:extLst>
              </a:tr>
              <a:tr h="339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Continuous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Measurable values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Height, Weight</a:t>
                      </a:r>
                    </a:p>
                  </a:txBody>
                  <a:tcPr marL="84948" marR="84948" marT="42474" marB="424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Measurement</a:t>
                      </a:r>
                    </a:p>
                  </a:txBody>
                  <a:tcPr marL="84948" marR="84948" marT="42474" marB="42474" anchor="ctr"/>
                </a:tc>
                <a:extLst>
                  <a:ext uri="{0D108BD9-81ED-4DB2-BD59-A6C34878D82A}">
                    <a16:rowId xmlns:a16="http://schemas.microsoft.com/office/drawing/2014/main" val="9172365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BF0D6-B037-FD9B-2DEE-A1EA042E9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61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646E-D1C5-99F2-E3C7-2164C982B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DDF0B-104A-1CEE-D984-AE5AADC52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Need for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4078-268C-402F-9E7C-34A765816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Data preprocessing</a:t>
            </a:r>
            <a:r>
              <a:rPr lang="en-US" dirty="0"/>
              <a:t> is the first and most crucial step in any data analysis or machine learning workflow. Real-world data is often </a:t>
            </a:r>
            <a:r>
              <a:rPr lang="en-US" b="1" dirty="0"/>
              <a:t>incomplete</a:t>
            </a:r>
            <a:r>
              <a:rPr lang="en-US" dirty="0"/>
              <a:t>, </a:t>
            </a:r>
            <a:r>
              <a:rPr lang="en-US" b="1" dirty="0"/>
              <a:t>inconsistent</a:t>
            </a:r>
            <a:r>
              <a:rPr lang="en-US" dirty="0"/>
              <a:t>, </a:t>
            </a:r>
            <a:r>
              <a:rPr lang="en-US" b="1" dirty="0"/>
              <a:t>noisy</a:t>
            </a:r>
            <a:r>
              <a:rPr lang="en-US" dirty="0"/>
              <a:t>, or </a:t>
            </a:r>
            <a:r>
              <a:rPr lang="en-US" b="1" dirty="0"/>
              <a:t>contains errors</a:t>
            </a:r>
            <a:r>
              <a:rPr lang="en-US" dirty="0"/>
              <a:t>. Before analysis or model training, the raw data must be cleaned, integrated, transformed, and reduced to make it suitable for meaningful analysis.</a:t>
            </a:r>
          </a:p>
          <a:p>
            <a:pPr marL="0" indent="0">
              <a:buNone/>
            </a:pPr>
            <a:r>
              <a:rPr lang="en-US" b="1" dirty="0"/>
              <a:t>Reasons for Data Preprocessing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Missing values:</a:t>
            </a:r>
            <a:r>
              <a:rPr lang="en-US" dirty="0"/>
              <a:t> Some data points might be missing due to errors in data collection.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Noisy data:</a:t>
            </a:r>
            <a:r>
              <a:rPr lang="en-US" dirty="0"/>
              <a:t> Data may contain outliers, errors, or random variations.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Inconsistent data:</a:t>
            </a:r>
            <a:r>
              <a:rPr lang="en-US" dirty="0"/>
              <a:t> Different data sources might have different naming conventions or formats.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Irrelevant attributes:</a:t>
            </a:r>
            <a:r>
              <a:rPr lang="en-US" dirty="0"/>
              <a:t> Some attributes may not contribute to the analysis.</a:t>
            </a: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b="1" dirty="0"/>
              <a:t>Redundant data:</a:t>
            </a:r>
            <a:r>
              <a:rPr lang="en-US" dirty="0"/>
              <a:t> Multiple sources might store duplicate or overlapping data.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9E9AB-BE4D-ACE4-7AE8-6FEAFCEB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9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29954-55C4-3A0D-F4F3-5C524A33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906A-CFED-4BF8-663C-2AD37083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Benefits of 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DE338-E576-74B0-18F1-6227512B6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5" y="2133601"/>
            <a:ext cx="11432116" cy="3992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Suppose we have a dataset of customers for a retail store: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56247-1A6B-82CA-DD6E-B7F29B89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FC6479-8653-FF0E-A726-B230FB579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33782"/>
              </p:ext>
            </p:extLst>
          </p:nvPr>
        </p:nvGraphicFramePr>
        <p:xfrm>
          <a:off x="779365" y="2652665"/>
          <a:ext cx="10582734" cy="32663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3789">
                  <a:extLst>
                    <a:ext uri="{9D8B030D-6E8A-4147-A177-3AD203B41FA5}">
                      <a16:colId xmlns:a16="http://schemas.microsoft.com/office/drawing/2014/main" val="1120175096"/>
                    </a:ext>
                  </a:extLst>
                </a:gridCol>
                <a:gridCol w="1763789">
                  <a:extLst>
                    <a:ext uri="{9D8B030D-6E8A-4147-A177-3AD203B41FA5}">
                      <a16:colId xmlns:a16="http://schemas.microsoft.com/office/drawing/2014/main" val="1174628922"/>
                    </a:ext>
                  </a:extLst>
                </a:gridCol>
                <a:gridCol w="1763789">
                  <a:extLst>
                    <a:ext uri="{9D8B030D-6E8A-4147-A177-3AD203B41FA5}">
                      <a16:colId xmlns:a16="http://schemas.microsoft.com/office/drawing/2014/main" val="3114342314"/>
                    </a:ext>
                  </a:extLst>
                </a:gridCol>
                <a:gridCol w="1763789">
                  <a:extLst>
                    <a:ext uri="{9D8B030D-6E8A-4147-A177-3AD203B41FA5}">
                      <a16:colId xmlns:a16="http://schemas.microsoft.com/office/drawing/2014/main" val="2760121921"/>
                    </a:ext>
                  </a:extLst>
                </a:gridCol>
                <a:gridCol w="1763789">
                  <a:extLst>
                    <a:ext uri="{9D8B030D-6E8A-4147-A177-3AD203B41FA5}">
                      <a16:colId xmlns:a16="http://schemas.microsoft.com/office/drawing/2014/main" val="1240190435"/>
                    </a:ext>
                  </a:extLst>
                </a:gridCol>
                <a:gridCol w="1763789">
                  <a:extLst>
                    <a:ext uri="{9D8B030D-6E8A-4147-A177-3AD203B41FA5}">
                      <a16:colId xmlns:a16="http://schemas.microsoft.com/office/drawing/2014/main" val="3347827589"/>
                    </a:ext>
                  </a:extLst>
                </a:gridCol>
              </a:tblGrid>
              <a:tr h="864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Purchase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022480"/>
                  </a:ext>
                </a:extLst>
              </a:tr>
              <a:tr h="480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Rahim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701854"/>
                  </a:ext>
                </a:extLst>
              </a:tr>
              <a:tr h="480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Karim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445107"/>
                  </a:ext>
                </a:extLst>
              </a:tr>
              <a:tr h="480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Anika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802743"/>
                  </a:ext>
                </a:extLst>
              </a:tr>
              <a:tr h="480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Rahima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346739"/>
                  </a:ext>
                </a:extLst>
              </a:tr>
              <a:tr h="480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Karim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869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227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5B4B0-BB84-E84B-DD09-91532D6A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AE353-CFE4-E7AA-49E8-4D9EA93FE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0" y="2133601"/>
            <a:ext cx="11340221" cy="399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Issues here:</a:t>
            </a:r>
          </a:p>
          <a:p>
            <a:r>
              <a:rPr lang="en-US" b="1" dirty="0"/>
              <a:t>Missing Age (C002)</a:t>
            </a:r>
            <a:r>
              <a:rPr lang="en-US" dirty="0"/>
              <a:t> → incomplete data.</a:t>
            </a:r>
          </a:p>
          <a:p>
            <a:r>
              <a:rPr lang="en-US" b="1" dirty="0"/>
              <a:t>Income = N/A (C003)</a:t>
            </a:r>
            <a:r>
              <a:rPr lang="en-US" dirty="0"/>
              <a:t> → missing value.</a:t>
            </a:r>
          </a:p>
          <a:p>
            <a:r>
              <a:rPr lang="en-US" b="1" dirty="0"/>
              <a:t>Gender coded differently (“F”, “Female”)</a:t>
            </a:r>
            <a:r>
              <a:rPr lang="en-US" dirty="0"/>
              <a:t> → inconsistent data.</a:t>
            </a:r>
          </a:p>
          <a:p>
            <a:r>
              <a:rPr lang="en-US" b="1" dirty="0"/>
              <a:t>Duplicate record (C002 &amp; C005)</a:t>
            </a:r>
            <a:r>
              <a:rPr lang="en-US" dirty="0"/>
              <a:t> → redundant data.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FA074-F428-1CF9-147A-F72D5813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24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6C95-1C94-48EB-E169-6A35807FB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D221B-FD3D-3AC4-4F5E-36D373B8F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260" y="2133601"/>
            <a:ext cx="11254741" cy="3992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preprocessing generally involves </a:t>
            </a:r>
            <a:r>
              <a:rPr lang="en-US" b="1" dirty="0"/>
              <a:t>four main stages</a:t>
            </a:r>
            <a:r>
              <a:rPr lang="en-US" dirty="0"/>
              <a:t>:</a:t>
            </a:r>
          </a:p>
          <a:p>
            <a:r>
              <a:rPr lang="en-US" b="1" dirty="0"/>
              <a:t>Data Cleaning</a:t>
            </a:r>
            <a:endParaRPr lang="en-US" dirty="0"/>
          </a:p>
          <a:p>
            <a:r>
              <a:rPr lang="en-US" b="1" dirty="0"/>
              <a:t>Data Integration</a:t>
            </a:r>
            <a:endParaRPr lang="en-US" dirty="0"/>
          </a:p>
          <a:p>
            <a:r>
              <a:rPr lang="en-US" b="1" dirty="0"/>
              <a:t>Data Transformation</a:t>
            </a:r>
            <a:endParaRPr lang="en-US" dirty="0"/>
          </a:p>
          <a:p>
            <a:r>
              <a:rPr lang="en-US" b="1" dirty="0"/>
              <a:t>Data Reduction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E1962-A491-9638-330E-8C288705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14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3C79-3639-E6A8-3748-EE9FF632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Cleaning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CA0F6-571C-CF41-F0DE-2DDE7A430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Objective:</a:t>
            </a:r>
            <a:r>
              <a:rPr lang="en-US" dirty="0"/>
              <a:t> To remove noise and handle missing, inconsistent, or incorrect data.</a:t>
            </a:r>
          </a:p>
          <a:p>
            <a:pPr marL="0" indent="0">
              <a:buNone/>
            </a:pPr>
            <a:r>
              <a:rPr lang="en-US" sz="2500" b="1" dirty="0"/>
              <a:t>Techniques:</a:t>
            </a:r>
          </a:p>
          <a:p>
            <a:pPr marL="0" indent="0">
              <a:buNone/>
            </a:pPr>
            <a:r>
              <a:rPr lang="en-US" sz="2500" b="1" dirty="0"/>
              <a:t>Handling missing values:</a:t>
            </a:r>
            <a:endParaRPr lang="en-US" sz="2500" dirty="0"/>
          </a:p>
          <a:p>
            <a:pPr lvl="1"/>
            <a:r>
              <a:rPr lang="en-US" sz="2300" b="1" dirty="0"/>
              <a:t>Ignore record:</a:t>
            </a:r>
            <a:r>
              <a:rPr lang="en-US" sz="2300" dirty="0"/>
              <a:t> Remove records with missing data.</a:t>
            </a:r>
          </a:p>
          <a:p>
            <a:pPr lvl="1"/>
            <a:r>
              <a:rPr lang="en-US" sz="2300" b="1" dirty="0"/>
              <a:t>Fill with global constant:</a:t>
            </a:r>
            <a:r>
              <a:rPr lang="en-US" sz="2300" dirty="0"/>
              <a:t> e.g., fill with “Unknown”.</a:t>
            </a:r>
          </a:p>
          <a:p>
            <a:pPr lvl="1"/>
            <a:r>
              <a:rPr lang="en-US" sz="2300" b="1" dirty="0"/>
              <a:t>Fill with mean/median/mode:</a:t>
            </a:r>
            <a:r>
              <a:rPr lang="en-US" sz="2300" dirty="0"/>
              <a:t> e.g., replace missing Age with average age.</a:t>
            </a:r>
          </a:p>
          <a:p>
            <a:pPr lvl="1"/>
            <a:r>
              <a:rPr lang="en-US" sz="2300" b="1" dirty="0"/>
              <a:t>Predict missing values:</a:t>
            </a:r>
            <a:r>
              <a:rPr lang="en-US" sz="2300" dirty="0"/>
              <a:t> Use regression or k-NN to estimate.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61E278-8808-6454-EBEC-8F47307A6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90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8776-D737-F016-727D-42FC1C2D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9689-2F04-B90C-F01F-10E516EE9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Cleaning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CF1E4-5D93-6B46-E0BA-BC681FBDD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r>
              <a:rPr lang="en-US" sz="2500" b="1" dirty="0"/>
              <a:t>Handling noisy data:</a:t>
            </a:r>
            <a:endParaRPr lang="en-US" sz="2500" dirty="0"/>
          </a:p>
          <a:p>
            <a:pPr lvl="1"/>
            <a:r>
              <a:rPr lang="en-US" sz="2300" b="1" dirty="0"/>
              <a:t>Binning:</a:t>
            </a:r>
            <a:r>
              <a:rPr lang="en-US" sz="2300" dirty="0"/>
              <a:t> Group data into bins and smooth values (e.g., 1–10 = “Low”).</a:t>
            </a:r>
          </a:p>
          <a:p>
            <a:pPr lvl="1"/>
            <a:r>
              <a:rPr lang="en-US" sz="2300" b="1" dirty="0"/>
              <a:t>Regression:</a:t>
            </a:r>
            <a:r>
              <a:rPr lang="en-US" sz="2300" dirty="0"/>
              <a:t> Fit a regression line to reduce random variation.</a:t>
            </a:r>
          </a:p>
          <a:p>
            <a:pPr lvl="1"/>
            <a:r>
              <a:rPr lang="en-US" sz="2300" b="1" dirty="0"/>
              <a:t>Clustering:</a:t>
            </a:r>
            <a:r>
              <a:rPr lang="en-US" sz="2300" dirty="0"/>
              <a:t> Detect outliers as noise.</a:t>
            </a:r>
          </a:p>
          <a:p>
            <a:r>
              <a:rPr lang="en-US" sz="2500" b="1" dirty="0"/>
              <a:t>Resolving inconsistencies:</a:t>
            </a:r>
            <a:endParaRPr lang="en-US" sz="2500" dirty="0"/>
          </a:p>
          <a:p>
            <a:pPr lvl="1"/>
            <a:r>
              <a:rPr lang="en-US" sz="2300" dirty="0"/>
              <a:t>Standardize formats (e.g., “M” and “Male” → “Male”).</a:t>
            </a:r>
          </a:p>
          <a:p>
            <a:pPr lvl="1"/>
            <a:r>
              <a:rPr lang="en-US" sz="2300" dirty="0"/>
              <a:t>Correct spelling or data entry errors.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94718-DB69-2754-0A4A-87BD133E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08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BCDA8-643C-486C-7631-674E0BD7C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124E99-B6CA-1C3C-EDBA-8E31E2D1E0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582390"/>
              </p:ext>
            </p:extLst>
          </p:nvPr>
        </p:nvGraphicFramePr>
        <p:xfrm>
          <a:off x="1551034" y="2248571"/>
          <a:ext cx="9436101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2613155257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2934173255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304530058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975035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92662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4643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088448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0AA783-967F-4EE6-77D5-6EA1212D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1D6CD9-2E60-78EE-4698-30DB867BA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315252"/>
              </p:ext>
            </p:extLst>
          </p:nvPr>
        </p:nvGraphicFramePr>
        <p:xfrm>
          <a:off x="1551033" y="4294654"/>
          <a:ext cx="9436101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3770839606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2834276713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173973163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261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7338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2111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Female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758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018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C1A8-CCAF-CA62-9216-DC1B8C55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DBEF8-2B9F-1EF2-E673-2D6149CA7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Integration</a:t>
            </a:r>
          </a:p>
          <a:p>
            <a:r>
              <a:rPr lang="en-US" b="1" dirty="0"/>
              <a:t>Objective:</a:t>
            </a:r>
            <a:r>
              <a:rPr lang="en-US" dirty="0"/>
              <a:t> Combine data from multiple sources into a consistent dataset.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b="1" dirty="0"/>
              <a:t>Merging data</a:t>
            </a:r>
            <a:r>
              <a:rPr lang="en-US" dirty="0"/>
              <a:t> from sales and customer databases using </a:t>
            </a:r>
            <a:r>
              <a:rPr lang="en-US" dirty="0" err="1"/>
              <a:t>Customer_ID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Schema integration:</a:t>
            </a:r>
            <a:r>
              <a:rPr lang="en-US" dirty="0"/>
              <a:t> Unify naming conventions (e.g., “</a:t>
            </a:r>
            <a:r>
              <a:rPr lang="en-US" dirty="0" err="1"/>
              <a:t>Cust_ID</a:t>
            </a:r>
            <a:r>
              <a:rPr lang="en-US" dirty="0"/>
              <a:t>” vs “</a:t>
            </a:r>
            <a:r>
              <a:rPr lang="en-US" dirty="0" err="1"/>
              <a:t>Customer_ID</a:t>
            </a:r>
            <a:r>
              <a:rPr lang="en-US" dirty="0"/>
              <a:t>”).</a:t>
            </a:r>
          </a:p>
          <a:p>
            <a:pPr lvl="1"/>
            <a:r>
              <a:rPr lang="en-US" b="1" dirty="0"/>
              <a:t>Entity resolution:</a:t>
            </a:r>
            <a:r>
              <a:rPr lang="en-US" dirty="0"/>
              <a:t> Identify and merge records referring to the same person or object.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9FDD3-EA04-7588-E43B-200ABAF8A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065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EF12B-BD7C-E85A-7970-3A1E6B15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AA93C9E-167E-45FB-FEB6-2CD54C79BE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306581"/>
              </p:ext>
            </p:extLst>
          </p:nvPr>
        </p:nvGraphicFramePr>
        <p:xfrm>
          <a:off x="1225109" y="2478529"/>
          <a:ext cx="9436101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2334065768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3478183734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97642922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Customer_ID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8533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5000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2924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01776-7C1A-8EA5-A990-0E7F03B4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9B3C922-DD45-9A7C-3C6F-2D3D1CE4B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818319"/>
              </p:ext>
            </p:extLst>
          </p:nvPr>
        </p:nvGraphicFramePr>
        <p:xfrm>
          <a:off x="1225109" y="3863709"/>
          <a:ext cx="9436101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145367">
                  <a:extLst>
                    <a:ext uri="{9D8B030D-6E8A-4147-A177-3AD203B41FA5}">
                      <a16:colId xmlns:a16="http://schemas.microsoft.com/office/drawing/2014/main" val="1760111860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812576076"/>
                    </a:ext>
                  </a:extLst>
                </a:gridCol>
                <a:gridCol w="3145367">
                  <a:extLst>
                    <a:ext uri="{9D8B030D-6E8A-4147-A177-3AD203B41FA5}">
                      <a16:colId xmlns:a16="http://schemas.microsoft.com/office/drawing/2014/main" val="37931987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 err="1"/>
                        <a:t>Customer_ID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6207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Rahim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897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36900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7A184-C707-0F26-5C7B-55A83100B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0E443-5485-8B3B-619D-7F1B655D2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40" y="2133601"/>
            <a:ext cx="11339661" cy="39925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Data Transformation</a:t>
            </a:r>
          </a:p>
          <a:p>
            <a:r>
              <a:rPr lang="en-US" b="1" dirty="0"/>
              <a:t>Objective:</a:t>
            </a:r>
            <a:r>
              <a:rPr lang="en-US" dirty="0"/>
              <a:t> Convert data into a suitable format or structure for analysis.</a:t>
            </a:r>
          </a:p>
          <a:p>
            <a:r>
              <a:rPr lang="en-US" b="1" dirty="0"/>
              <a:t>Techniques:</a:t>
            </a:r>
          </a:p>
          <a:p>
            <a:pPr lvl="1"/>
            <a:r>
              <a:rPr lang="en-US" b="1" dirty="0"/>
              <a:t>Normalization:</a:t>
            </a:r>
            <a:r>
              <a:rPr lang="en-US" dirty="0"/>
              <a:t> Scale data into a specific range (e.g., [0, 1]). Formula (Min-Max Normalization):</a:t>
            </a:r>
          </a:p>
          <a:p>
            <a:pPr lvl="1"/>
            <a:r>
              <a:rPr lang="en-US" b="1" dirty="0"/>
              <a:t>Aggregation:</a:t>
            </a:r>
            <a:r>
              <a:rPr lang="en-US" dirty="0"/>
              <a:t> Summarize data (e.g., monthly sales → yearly sales).</a:t>
            </a:r>
          </a:p>
          <a:p>
            <a:pPr lvl="1"/>
            <a:r>
              <a:rPr lang="en-US" b="1" dirty="0"/>
              <a:t>Generalization:</a:t>
            </a:r>
            <a:r>
              <a:rPr lang="en-US" dirty="0"/>
              <a:t> Replace low-level data with higher-level concepts (e.g., “Dhaka” → “Bangladesh”).</a:t>
            </a:r>
          </a:p>
          <a:p>
            <a:pPr lvl="1"/>
            <a:r>
              <a:rPr lang="en-US" b="1" dirty="0"/>
              <a:t>Encoding categorical data:</a:t>
            </a:r>
            <a:r>
              <a:rPr lang="en-US" dirty="0"/>
              <a:t> Convert text data into numerical form (e.g., “Male” = 1, “Female” = 0).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A2618-F08E-3B5B-95D0-731E82EE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54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3A90A-9E71-0D6F-B508-E32388943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F44795B-614A-21F0-8643-3C3C5E5FB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873066"/>
              </p:ext>
            </p:extLst>
          </p:nvPr>
        </p:nvGraphicFramePr>
        <p:xfrm>
          <a:off x="4345943" y="3212184"/>
          <a:ext cx="3497999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0919">
                  <a:extLst>
                    <a:ext uri="{9D8B030D-6E8A-4147-A177-3AD203B41FA5}">
                      <a16:colId xmlns:a16="http://schemas.microsoft.com/office/drawing/2014/main" val="2544944265"/>
                    </a:ext>
                  </a:extLst>
                </a:gridCol>
                <a:gridCol w="1857080">
                  <a:extLst>
                    <a:ext uri="{9D8B030D-6E8A-4147-A177-3AD203B41FA5}">
                      <a16:colId xmlns:a16="http://schemas.microsoft.com/office/drawing/2014/main" val="25201307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Normalized (0–1)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29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1740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48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867041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42731-B1A1-1219-35CE-6203DA7F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565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0B5C9-8EC2-C703-78E7-71443AC3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53D48-B006-F271-8E07-1FFEB036A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8" y="2133601"/>
            <a:ext cx="11330234" cy="39925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/>
              <a:t>Data Reduction</a:t>
            </a:r>
          </a:p>
          <a:p>
            <a:pPr algn="just"/>
            <a:r>
              <a:rPr lang="en-US" b="1" dirty="0"/>
              <a:t>Objective:</a:t>
            </a:r>
            <a:r>
              <a:rPr lang="en-US" dirty="0"/>
              <a:t> Reduce the data volume while maintaining its integrity and analytical value.</a:t>
            </a:r>
          </a:p>
          <a:p>
            <a:pPr algn="just"/>
            <a:r>
              <a:rPr lang="en-US" b="1" dirty="0"/>
              <a:t>Techniques:</a:t>
            </a:r>
          </a:p>
          <a:p>
            <a:pPr marL="917575" lvl="1" algn="just">
              <a:buFont typeface="+mj-lt"/>
              <a:buAutoNum type="arabicPeriod"/>
            </a:pPr>
            <a:r>
              <a:rPr lang="en-US" b="1" dirty="0"/>
              <a:t>Attribute (Feature) Selection:</a:t>
            </a:r>
            <a:r>
              <a:rPr lang="en-US" dirty="0"/>
              <a:t> Select the most relevant attributes.</a:t>
            </a:r>
          </a:p>
          <a:p>
            <a:pPr marL="917575" lvl="1" algn="just">
              <a:buFont typeface="+mj-lt"/>
              <a:buAutoNum type="arabicPeriod"/>
            </a:pPr>
            <a:r>
              <a:rPr lang="en-US" b="1" dirty="0"/>
              <a:t>Dimensionality Reduction:</a:t>
            </a:r>
            <a:r>
              <a:rPr lang="en-US" dirty="0"/>
              <a:t> Use PCA (Principal Component Analysis) or LDA.</a:t>
            </a:r>
          </a:p>
          <a:p>
            <a:pPr marL="917575" lvl="1" algn="just">
              <a:buFont typeface="+mj-lt"/>
              <a:buAutoNum type="arabicPeriod"/>
            </a:pPr>
            <a:r>
              <a:rPr lang="en-US" b="1" dirty="0"/>
              <a:t>Numerosity Reduction:</a:t>
            </a:r>
            <a:r>
              <a:rPr lang="en-US" dirty="0"/>
              <a:t> Replace data with smaller representations (e.g., histograms, clustering).</a:t>
            </a:r>
          </a:p>
          <a:p>
            <a:pPr marL="917575" lvl="1" algn="just">
              <a:buFont typeface="+mj-lt"/>
              <a:buAutoNum type="arabicPeriod"/>
            </a:pPr>
            <a:r>
              <a:rPr lang="en-US" b="1" dirty="0"/>
              <a:t>Data Compression:</a:t>
            </a:r>
            <a:r>
              <a:rPr lang="en-US" dirty="0"/>
              <a:t> Use coding or encoding schemes to store efficiently.</a:t>
            </a:r>
          </a:p>
          <a:p>
            <a:pPr algn="just"/>
            <a:r>
              <a:rPr lang="en-US" b="1" dirty="0"/>
              <a:t>Example: </a:t>
            </a:r>
            <a:r>
              <a:rPr lang="en-US" dirty="0"/>
              <a:t>If a dataset has 50 features but only 10 significantly affect predictions, feature selection or PCA can reduce dimensionality—making computation faster and improving model performance.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8810-6A98-65F7-366A-5A2253F6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514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89065-625B-7D5A-6C50-AA8D8D30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 Statistical Descriptions of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C58B0-7B54-1345-4507-EED2B761B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/>
          </a:bodyPr>
          <a:lstStyle/>
          <a:p>
            <a:r>
              <a:rPr lang="en-US" dirty="0"/>
              <a:t>Statistical description of data involves summarizing and understanding the essential features of a dataset using numerical measures and visual representations. These descriptions help in understanding the </a:t>
            </a:r>
            <a:r>
              <a:rPr lang="en-US" b="1" dirty="0"/>
              <a:t>central tendency</a:t>
            </a:r>
            <a:r>
              <a:rPr lang="en-US" dirty="0"/>
              <a:t> (where the data tends to cluster) and the </a:t>
            </a:r>
            <a:r>
              <a:rPr lang="en-US" b="1" dirty="0"/>
              <a:t>dispersion</a:t>
            </a:r>
            <a:r>
              <a:rPr lang="en-US" dirty="0"/>
              <a:t> (how spread out the data is).</a:t>
            </a:r>
          </a:p>
          <a:p>
            <a:r>
              <a:rPr lang="en-US" b="1" dirty="0"/>
              <a:t>Measuring the Central Tendency: Mean, Median, and Mode: </a:t>
            </a:r>
            <a:r>
              <a:rPr lang="en-US" dirty="0"/>
              <a:t>Central tendency measures describe the center or typical value of a dataset.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A6129-AE71-F94D-A25C-A9A68ED7D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862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C433-F7A7-35D7-D5FA-B57410A99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59131-60B6-144C-3BDC-EBD7E8016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1C56B-CE00-C955-A729-23780F38CE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Mean (Arithmetic Average)</a:t>
                </a:r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 b="1" dirty="0"/>
                  <a:t>mean</a:t>
                </a:r>
                <a:r>
                  <a:rPr lang="en-US" dirty="0"/>
                  <a:t> is the sum of all data values divided by the number of values. </a:t>
                </a:r>
              </a:p>
              <a:p>
                <a:r>
                  <a:rPr lang="en-US" dirty="0"/>
                  <a:t>Mean 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sum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number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count</m:t>
                    </m:r>
                  </m:oMath>
                </a14:m>
              </a:p>
              <a:p>
                <a:r>
                  <a:rPr lang="en-US" b="1" dirty="0"/>
                  <a:t>Example: </a:t>
                </a:r>
                <a:r>
                  <a:rPr lang="en-US" dirty="0"/>
                  <a:t>Consider the dataset:</a:t>
                </a:r>
                <a:br>
                  <a:rPr lang="en-US" dirty="0"/>
                </a:br>
                <a:r>
                  <a:rPr lang="en-US" dirty="0"/>
                  <a:t>5, 8, 12, 20, 25</a:t>
                </a:r>
                <a:br>
                  <a:rPr lang="en-US" dirty="0"/>
                </a:br>
                <a:r>
                  <a:rPr lang="en-US" dirty="0"/>
                  <a:t>The average value of the data is </a:t>
                </a:r>
                <a:r>
                  <a:rPr lang="en-US" b="1" dirty="0"/>
                  <a:t>14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31C56B-CE00-C955-A729-23780F38CE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  <a:blipFill>
                <a:blip r:embed="rId2"/>
                <a:stretch>
                  <a:fillRect l="-800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056FE-C3D0-B56F-7DFF-F59FF4A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32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CE22-11A4-ED96-1F90-5E2741E43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AA56A-EEA7-1FAB-A0F4-8FF9FD5B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F2DF-3E36-DCD8-113F-F1627B17B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Median</a:t>
            </a:r>
          </a:p>
          <a:p>
            <a:r>
              <a:rPr lang="en-US" dirty="0"/>
              <a:t>The </a:t>
            </a:r>
            <a:r>
              <a:rPr lang="en-US" b="1" dirty="0"/>
              <a:t>median</a:t>
            </a:r>
            <a:r>
              <a:rPr lang="en-US" dirty="0"/>
              <a:t> is the middle value when the data is arranged in ascending or descending order.</a:t>
            </a:r>
          </a:p>
          <a:p>
            <a:r>
              <a:rPr lang="en-US" dirty="0"/>
              <a:t>If the number of data values (n) is </a:t>
            </a:r>
            <a:r>
              <a:rPr lang="en-US" b="1" dirty="0"/>
              <a:t>odd</a:t>
            </a:r>
            <a:r>
              <a:rPr lang="en-US" dirty="0"/>
              <a:t>, the median is the middle value.</a:t>
            </a:r>
          </a:p>
          <a:p>
            <a:r>
              <a:rPr lang="en-US" dirty="0"/>
              <a:t>If </a:t>
            </a:r>
            <a:r>
              <a:rPr lang="en-US" b="1" dirty="0"/>
              <a:t>even</a:t>
            </a:r>
            <a:r>
              <a:rPr lang="en-US" dirty="0"/>
              <a:t>, the median is the average of the two middle values.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Dataset: 4, 7, 10, 12, 18</a:t>
            </a:r>
            <a:br>
              <a:rPr lang="en-US" dirty="0"/>
            </a:br>
            <a:r>
              <a:rPr lang="en-US" dirty="0"/>
              <a:t>Median = 10 (middle value)</a:t>
            </a:r>
          </a:p>
          <a:p>
            <a:r>
              <a:rPr lang="en-US" dirty="0"/>
              <a:t>If dataset = 4, 7, 10, 12, 18, 20</a:t>
            </a:r>
            <a:br>
              <a:rPr lang="en-US" dirty="0"/>
            </a:br>
            <a:r>
              <a:rPr lang="en-US" dirty="0"/>
              <a:t>Median = (10 + 12) / 2 = </a:t>
            </a:r>
            <a:r>
              <a:rPr lang="en-US" b="1" dirty="0"/>
              <a:t>11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E3D56-B72C-154B-60DC-4DADC31C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65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2F4C8-CEBE-E92D-D320-C41AC3AA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1905-2B64-704D-4445-F0B9ACEC9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32BAB-556A-1A01-35C6-E5400FCD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Mode</a:t>
            </a:r>
          </a:p>
          <a:p>
            <a:r>
              <a:rPr lang="en-US" dirty="0"/>
              <a:t>The </a:t>
            </a:r>
            <a:r>
              <a:rPr lang="en-US" b="1" dirty="0"/>
              <a:t>mode</a:t>
            </a:r>
            <a:r>
              <a:rPr lang="en-US" dirty="0"/>
              <a:t> is the value that occurs </a:t>
            </a:r>
            <a:r>
              <a:rPr lang="en-US" b="1" dirty="0"/>
              <a:t>most frequently</a:t>
            </a:r>
            <a:r>
              <a:rPr lang="en-US" dirty="0"/>
              <a:t> in a dataset.</a:t>
            </a:r>
          </a:p>
          <a:p>
            <a:r>
              <a:rPr lang="en-US" dirty="0"/>
              <a:t>A dataset can have:</a:t>
            </a:r>
          </a:p>
          <a:p>
            <a:pPr lvl="1"/>
            <a:r>
              <a:rPr lang="en-US" b="1" dirty="0"/>
              <a:t>One mode</a:t>
            </a:r>
            <a:r>
              <a:rPr lang="en-US" dirty="0"/>
              <a:t> → </a:t>
            </a:r>
            <a:r>
              <a:rPr lang="en-US" i="1" dirty="0"/>
              <a:t>unimodal</a:t>
            </a:r>
            <a:endParaRPr lang="en-US" dirty="0"/>
          </a:p>
          <a:p>
            <a:pPr lvl="1"/>
            <a:r>
              <a:rPr lang="en-US" b="1" dirty="0"/>
              <a:t>Two modes</a:t>
            </a:r>
            <a:r>
              <a:rPr lang="en-US" dirty="0"/>
              <a:t> → </a:t>
            </a:r>
            <a:r>
              <a:rPr lang="en-US" i="1" dirty="0"/>
              <a:t>bimodal</a:t>
            </a:r>
            <a:endParaRPr lang="en-US" dirty="0"/>
          </a:p>
          <a:p>
            <a:pPr lvl="1"/>
            <a:r>
              <a:rPr lang="en-US" b="1" dirty="0"/>
              <a:t>More than two modes</a:t>
            </a:r>
            <a:r>
              <a:rPr lang="en-US" dirty="0"/>
              <a:t> → </a:t>
            </a:r>
            <a:r>
              <a:rPr lang="en-US" i="1" dirty="0"/>
              <a:t>multimodal</a:t>
            </a:r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Dataset: 2, 4, 4, 6, 7, 8, 8, 8</a:t>
            </a:r>
            <a:br>
              <a:rPr lang="en-US" dirty="0"/>
            </a:br>
            <a:r>
              <a:rPr lang="en-US" dirty="0"/>
              <a:t>Mode = 8 (occurs most frequently)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BDA94-C63C-B2F8-18CA-AC45C4610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80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342C-C6CE-7911-C7FE-F6F9F473C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B0BF-4995-973C-EFBF-66865099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60623-C3CC-9063-E873-8B7689E2DE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Measuring the Dispersion of Data: Range, Quartiles, Variance, Standard Deviation, and Interquartile Range</a:t>
                </a:r>
              </a:p>
              <a:p>
                <a:r>
                  <a:rPr lang="en-US" dirty="0"/>
                  <a:t>Dispersion (or variability) measures describe how spread out or dispersed the data values are around the central tendency.</a:t>
                </a:r>
              </a:p>
              <a:p>
                <a:pPr marL="0" indent="0">
                  <a:buNone/>
                </a:pPr>
                <a:r>
                  <a:rPr lang="en-US" b="1" dirty="0"/>
                  <a:t>Range: </a:t>
                </a:r>
                <a:r>
                  <a:rPr lang="en-US" dirty="0"/>
                  <a:t>The </a:t>
                </a:r>
                <a:r>
                  <a:rPr lang="en-US" b="1" dirty="0"/>
                  <a:t>range</a:t>
                </a:r>
                <a:r>
                  <a:rPr lang="en-US" dirty="0"/>
                  <a:t> is the simplest measure of dispersion — the difference between the largest and smallest values.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Range</m:t>
                    </m:r>
                    <m:r>
                      <a:rPr lang="en-US"/>
                      <m:t>=</m:t>
                    </m:r>
                    <m:r>
                      <m:rPr>
                        <m:nor/>
                      </m:rPr>
                      <a:rPr lang="en-US" i="1"/>
                      <m:t>Maximum</m:t>
                    </m:r>
                    <m:r>
                      <a:rPr lang="en-US"/>
                      <m:t>−</m:t>
                    </m:r>
                    <m:r>
                      <m:rPr>
                        <m:nor/>
                      </m:rPr>
                      <a:rPr lang="en-US" i="1"/>
                      <m:t>Minimum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Dataset: 5, 8, 12, 20, 25</a:t>
                </a:r>
                <a:br>
                  <a:rPr lang="en-US" dirty="0"/>
                </a:br>
                <a:r>
                  <a:rPr lang="en-US" dirty="0"/>
                  <a:t>Range = 25 − 5 = </a:t>
                </a:r>
                <a:r>
                  <a:rPr lang="en-US" b="1" dirty="0"/>
                  <a:t>20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60623-C3CC-9063-E873-8B7689E2D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  <a:blipFill>
                <a:blip r:embed="rId2"/>
                <a:stretch>
                  <a:fillRect l="-800" t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0D28B-A883-0C3C-34BD-2C3B01650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764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7CAD-380F-2B20-25BC-C0341849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84721-4DD9-3574-2F7E-B0E60A33B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F0AB0B-985D-4349-7DB9-E80491A0D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Quartiles and Interquartile Range (IQR)</a:t>
                </a:r>
              </a:p>
              <a:p>
                <a:pPr marL="0" indent="0">
                  <a:buNone/>
                </a:pPr>
                <a:r>
                  <a:rPr lang="en-US" b="1" dirty="0"/>
                  <a:t>Quartiles</a:t>
                </a:r>
                <a:r>
                  <a:rPr lang="en-US" dirty="0"/>
                  <a:t> divide the data into four equal parts. </a:t>
                </a:r>
                <a:r>
                  <a:rPr lang="en-US" b="1" dirty="0"/>
                  <a:t>Q1 (First Quartile)</a:t>
                </a:r>
                <a:r>
                  <a:rPr lang="en-US" dirty="0"/>
                  <a:t>: 25% of data below it. </a:t>
                </a:r>
                <a:r>
                  <a:rPr lang="en-US" b="1" dirty="0"/>
                  <a:t>Q2 (Median)</a:t>
                </a:r>
                <a:r>
                  <a:rPr lang="en-US" dirty="0"/>
                  <a:t>: 50% of data below it. </a:t>
                </a:r>
                <a:r>
                  <a:rPr lang="en-US" b="1" dirty="0"/>
                  <a:t>Q3 (Third Quartile)</a:t>
                </a:r>
                <a:r>
                  <a:rPr lang="en-US" dirty="0"/>
                  <a:t>: 75% of data below it. The </a:t>
                </a:r>
                <a:r>
                  <a:rPr lang="en-US" b="1" dirty="0"/>
                  <a:t>Interquartile Range (IQR)</a:t>
                </a:r>
                <a:r>
                  <a:rPr lang="en-US" dirty="0"/>
                  <a:t> measures the spread of the middle 50% of data.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/>
                      <m:t>IQR</m:t>
                    </m:r>
                    <m:r>
                      <a:rPr lang="en-US"/>
                      <m:t>=</m:t>
                    </m:r>
                    <m:r>
                      <a:rPr lang="en-US" i="1"/>
                      <m:t>𝑄</m:t>
                    </m:r>
                    <m:r>
                      <a:rPr lang="en-US"/>
                      <m:t>3</m:t>
                    </m:r>
                    <m:r>
                      <a:rPr lang="en-US"/>
                      <m:t>−</m:t>
                    </m:r>
                    <m:r>
                      <a:rPr lang="en-US" i="1"/>
                      <m:t>𝑄</m:t>
                    </m:r>
                    <m:r>
                      <a:rPr lang="en-US"/>
                      <m:t>1</m:t>
                    </m:r>
                  </m:oMath>
                </a14:m>
                <a:endParaRPr lang="en-US" b="0" dirty="0"/>
              </a:p>
              <a:p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Dataset: 4, 7, 10, 12, 15, 18, 20, 22, 25</a:t>
                </a:r>
                <a:br>
                  <a:rPr lang="en-US" dirty="0"/>
                </a:br>
                <a:r>
                  <a:rPr lang="en-US" dirty="0"/>
                  <a:t>Q1 = 10, Q3 = 20</a:t>
                </a:r>
                <a:br>
                  <a:rPr lang="en-US" dirty="0"/>
                </a:br>
                <a:r>
                  <a:rPr lang="en-US" dirty="0"/>
                  <a:t>IQR = 20 − 10 = </a:t>
                </a:r>
                <a:r>
                  <a:rPr lang="en-US" b="1" dirty="0"/>
                  <a:t>10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F0AB0B-985D-4349-7DB9-E80491A0D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  <a:blipFill>
                <a:blip r:embed="rId2"/>
                <a:stretch>
                  <a:fillRect l="-800" t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0C932-068D-0744-B9D8-5F2D2E47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6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07DDE-0231-2C43-E421-E876C914F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5D80-2442-0BE6-06A8-E68BDB07B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61C06-99EF-FF3F-F808-68A973B909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Variance</a:t>
                </a:r>
              </a:p>
              <a:p>
                <a:r>
                  <a:rPr lang="en-US" b="1" dirty="0"/>
                  <a:t>Variance</a:t>
                </a:r>
                <a:r>
                  <a:rPr lang="en-US" dirty="0"/>
                  <a:t> measures how far each data point deviates from the mean. </a:t>
                </a:r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Dataset: 2, 4, 6, 8</a:t>
                </a:r>
              </a:p>
              <a:p>
                <a14:m>
                  <m:oMath xmlns:m="http://schemas.openxmlformats.org/officeDocument/2006/math">
                    <m:limUpp>
                      <m:limUppPr>
                        <m:ctrlPr>
                          <a:rPr lang="ar-AE"/>
                        </m:ctrlPr>
                      </m:limUppPr>
                      <m:e>
                        <m:r>
                          <a:rPr lang="ar-AE" i="1"/>
                          <m:t>𝑥</m:t>
                        </m:r>
                      </m:e>
                      <m:lim>
                        <m:r>
                          <a:rPr lang="ar-AE"/>
                          <m:t>ˉ</m:t>
                        </m:r>
                      </m:lim>
                    </m:limUpp>
                    <m:r>
                      <a:rPr lang="ar-AE"/>
                      <m:t>=</m:t>
                    </m:r>
                    <m:r>
                      <a:rPr lang="ar-AE"/>
                      <m:t>5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𝑠</m:t>
                        </m:r>
                      </m:e>
                      <m:sup>
                        <m:r>
                          <a:rPr lang="ar-AE"/>
                          <m:t>2</m:t>
                        </m:r>
                      </m:sup>
                    </m:sSup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d>
                          <m:dPr>
                            <m:endChr m:val="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ar-AE"/>
                              <m:t>2</m:t>
                            </m:r>
                            <m:r>
                              <a:rPr lang="ar-AE"/>
                              <m:t>−</m:t>
                            </m:r>
                            <m:r>
                              <a:rPr lang="ar-AE"/>
                              <m:t>5</m:t>
                            </m:r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ar-AE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  <m:r>
                              <a:rPr lang="ar-AE"/>
                              <m:t>+</m:t>
                            </m:r>
                            <m:d>
                              <m:dPr>
                                <m:endChr m:val=""/>
                                <m:ctrlPr>
                                  <a:rPr lang="ar-AE" i="1"/>
                                </m:ctrlPr>
                              </m:dPr>
                              <m:e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ar-AE"/>
                                  <m:t>4</m:t>
                                </m:r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5</m:t>
                                </m:r>
                                <m:sSup>
                                  <m:sSupPr>
                                    <m:ctrlPr>
                                      <a:rPr lang="ar-AE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ar-AE" i="1"/>
                                        </m:ctrlPr>
                                      </m:dPr>
                                      <m:e>
                                        <m:r>
                                          <a:rPr lang="ar-AE"/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ar-AE"/>
                                      <m:t>2</m:t>
                                    </m:r>
                                  </m:sup>
                                </m:sSup>
                                <m:r>
                                  <a:rPr lang="ar-AE"/>
                                  <m:t>+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ar-AE" i="1"/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ar-AE"/>
                                      <m:t>6</m:t>
                                    </m:r>
                                    <m:r>
                                      <a:rPr lang="ar-AE"/>
                                      <m:t>−</m:t>
                                    </m:r>
                                    <m:r>
                                      <a:rPr lang="ar-AE"/>
                                      <m:t>5</m:t>
                                    </m:r>
                                    <m:sSup>
                                      <m:sSupPr>
                                        <m:ctrlPr>
                                          <a:rPr lang="ar-AE" i="1"/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"/>
                                            <m:endChr m:val=""/>
                                            <m:ctrlPr>
                                              <a:rPr lang="ar-AE" i="1"/>
                                            </m:ctrlPr>
                                          </m:dPr>
                                          <m:e>
                                            <m:r>
                                              <a:rPr lang="ar-AE"/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ar-AE"/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ar-AE"/>
                                      <m:t>+</m:t>
                                    </m:r>
                                    <m:d>
                                      <m:dPr>
                                        <m:endChr m:val=""/>
                                        <m:ctrlPr>
                                          <a:rPr lang="ar-AE" i="1"/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ar-AE"/>
                                          <m:t>8</m:t>
                                        </m:r>
                                        <m:r>
                                          <a:rPr lang="ar-AE"/>
                                          <m:t>−</m:t>
                                        </m:r>
                                        <m:r>
                                          <a:rPr lang="ar-AE"/>
                                          <m:t>5</m:t>
                                        </m:r>
                                        <m:sSup>
                                          <m:sSupPr>
                                            <m:ctrlPr>
                                              <a:rPr lang="ar-AE" i="1"/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"/>
                                                <m:endChr m:val=""/>
                                                <m:ctrlPr>
                                                  <a:rPr lang="ar-AE" i="1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ar-AE"/>
                                                  <m:t>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ar-AE"/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d>
                      </m:num>
                      <m:den>
                        <m:r>
                          <a:rPr lang="ar-AE"/>
                          <m:t>4</m:t>
                        </m:r>
                        <m:r>
                          <a:rPr lang="ar-AE"/>
                          <m:t>−</m:t>
                        </m:r>
                        <m:r>
                          <a:rPr lang="ar-AE"/>
                          <m:t>1</m:t>
                        </m:r>
                      </m:den>
                    </m:f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9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1</m:t>
                        </m:r>
                        <m:r>
                          <a:rPr lang="ar-AE"/>
                          <m:t>+</m:t>
                        </m:r>
                        <m:r>
                          <a:rPr lang="ar-AE"/>
                          <m:t>9</m:t>
                        </m:r>
                      </m:num>
                      <m:den>
                        <m:r>
                          <a:rPr lang="ar-AE"/>
                          <m:t>3</m:t>
                        </m:r>
                      </m:den>
                    </m:f>
                    <m:r>
                      <a:rPr lang="ar-AE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20</m:t>
                        </m:r>
                      </m:num>
                      <m:den>
                        <m:r>
                          <a:rPr lang="ar-AE"/>
                          <m:t>3</m:t>
                        </m:r>
                      </m:den>
                    </m:f>
                    <m:r>
                      <a:rPr lang="ar-AE"/>
                      <m:t>=</m:t>
                    </m:r>
                    <m:r>
                      <a:rPr lang="ar-AE"/>
                      <m:t>6</m:t>
                    </m:r>
                    <m:r>
                      <a:rPr lang="ar-AE"/>
                      <m:t>.</m:t>
                    </m:r>
                    <m:r>
                      <a:rPr lang="ar-AE"/>
                      <m:t>67</m:t>
                    </m:r>
                  </m:oMath>
                </a14:m>
                <a:endParaRPr lang="ar-AE" dirty="0"/>
              </a:p>
              <a:p>
                <a:r>
                  <a:rPr lang="en-US" dirty="0"/>
                  <a:t>Variance = </a:t>
                </a:r>
                <a:r>
                  <a:rPr lang="en-US" b="1" dirty="0"/>
                  <a:t>6.67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61C06-99EF-FF3F-F808-68A973B909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8886" y="2133601"/>
                <a:ext cx="11432116" cy="3992563"/>
              </a:xfrm>
              <a:blipFill>
                <a:blip r:embed="rId2"/>
                <a:stretch>
                  <a:fillRect l="-693" t="-1069" b="-1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5487C-345C-B464-A5A4-80244C7E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88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B86E-E8DA-114C-7892-C0822462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AB4066-1D6D-A580-B499-7C5896CF85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standard deviation (SD)</a:t>
                </a:r>
                <a:r>
                  <a:rPr lang="en-US" dirty="0"/>
                  <a:t> is the square root of variance. It is in the same unit as the data.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𝑠</m:t>
                    </m:r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ar-AE" i="1"/>
                            </m:ctrlPr>
                          </m:sSupPr>
                          <m:e>
                            <m:r>
                              <a:rPr lang="ar-AE" i="1"/>
                              <m:t>𝑠</m:t>
                            </m:r>
                          </m:e>
                          <m:sup>
                            <m:r>
                              <a:rPr lang="ar-AE"/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ar-AE" dirty="0"/>
              </a:p>
              <a:p>
                <a:r>
                  <a:rPr lang="en-US" dirty="0"/>
                  <a:t>From the previous example: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𝑠</m:t>
                    </m:r>
                    <m:r>
                      <a:rPr lang="en-US"/>
                      <m:t>=</m:t>
                    </m:r>
                    <m:rad>
                      <m:radPr>
                        <m:degHide m:val="on"/>
                        <m:ctrlPr>
                          <a:rPr lang="ar-AE" i="1"/>
                        </m:ctrlPr>
                      </m:radPr>
                      <m:deg/>
                      <m:e>
                        <m:r>
                          <a:rPr lang="ar-AE"/>
                          <m:t>6</m:t>
                        </m:r>
                        <m:r>
                          <a:rPr lang="ar-AE"/>
                          <m:t>.</m:t>
                        </m:r>
                        <m:r>
                          <a:rPr lang="ar-AE"/>
                          <m:t>67</m:t>
                        </m:r>
                      </m:e>
                    </m:rad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  <m:r>
                      <a:rPr lang="ar-AE"/>
                      <m:t>.</m:t>
                    </m:r>
                    <m:r>
                      <a:rPr lang="ar-AE"/>
                      <m:t>58</m:t>
                    </m:r>
                  </m:oMath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AB4066-1D6D-A580-B499-7C5896CF85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1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D64EF-884B-A136-5F60-6FBD41DE9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1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D737-4313-3785-792C-F1598F99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63C37-9739-F419-1C52-040FBF1A63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Coefficient of Variation (CV)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CV</a:t>
                </a:r>
                <a:r>
                  <a:rPr lang="en-US" dirty="0"/>
                  <a:t> measures relative variability, useful for comparing datasets with different units or scales.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𝐶𝑉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 i="1"/>
                          <m:t>𝑠</m:t>
                        </m:r>
                      </m:num>
                      <m:den>
                        <m:limUpp>
                          <m:limUppPr>
                            <m:ctrlPr>
                              <a:rPr lang="ar-AE" i="1"/>
                            </m:ctrlPr>
                          </m:limUppPr>
                          <m:e>
                            <m:r>
                              <a:rPr lang="ar-AE" i="1"/>
                              <m:t>𝑥</m:t>
                            </m:r>
                          </m:e>
                          <m:lim>
                            <m:r>
                              <a:rPr lang="ar-AE"/>
                              <m:t>ˉ</m:t>
                            </m:r>
                          </m:lim>
                        </m:limUpp>
                      </m:den>
                    </m:f>
                    <m:r>
                      <a:rPr lang="ar-AE"/>
                      <m:t>×</m:t>
                    </m:r>
                    <m:r>
                      <a:rPr lang="ar-AE"/>
                      <m:t>100</m:t>
                    </m:r>
                    <m:r>
                      <a:rPr lang="ar-AE"/>
                      <m:t>%</m:t>
                    </m:r>
                  </m:oMath>
                </a14:m>
                <a:endParaRPr lang="ar-AE" dirty="0"/>
              </a:p>
              <a:p>
                <a:r>
                  <a:rPr lang="en-US" b="1" dirty="0"/>
                  <a:t>Example:</a:t>
                </a:r>
                <a:br>
                  <a:rPr lang="en-US" dirty="0"/>
                </a:br>
                <a:r>
                  <a:rPr lang="en-US" dirty="0"/>
                  <a:t>Mean = 50, SD = 10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𝐶𝑉</m:t>
                    </m:r>
                    <m:r>
                      <a:rPr lang="en-US"/>
                      <m:t>=</m:t>
                    </m:r>
                    <m:f>
                      <m:fPr>
                        <m:ctrlPr>
                          <a:rPr lang="ar-AE" i="1"/>
                        </m:ctrlPr>
                      </m:fPr>
                      <m:num>
                        <m:r>
                          <a:rPr lang="ar-AE"/>
                          <m:t>10</m:t>
                        </m:r>
                      </m:num>
                      <m:den>
                        <m:r>
                          <a:rPr lang="ar-AE"/>
                          <m:t>50</m:t>
                        </m:r>
                      </m:den>
                    </m:f>
                    <m:r>
                      <a:rPr lang="ar-AE"/>
                      <m:t>×</m:t>
                    </m:r>
                    <m:r>
                      <a:rPr lang="ar-AE"/>
                      <m:t>100</m:t>
                    </m:r>
                    <m:r>
                      <a:rPr lang="ar-AE"/>
                      <m:t>=</m:t>
                    </m:r>
                    <m:r>
                      <a:rPr lang="ar-AE"/>
                      <m:t>20</m:t>
                    </m:r>
                    <m:r>
                      <a:rPr lang="ar-AE"/>
                      <m:t>%</m:t>
                    </m:r>
                  </m:oMath>
                </a14:m>
                <a:endParaRPr lang="ar-AE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B63C37-9739-F419-1C52-040FBF1A63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6" t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E74CE-77BE-32C5-969A-7397AC2B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54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CFBD-C48A-4A9C-A9FF-7D9A5A04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B6E15-E222-AFD7-54C8-B7967FD0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56190-F0BE-2901-C9B0-687F1D2E8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86" y="2133601"/>
            <a:ext cx="11432116" cy="3992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C17B4-05E6-CFC6-0E88-33122DC4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20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859494" y="595100"/>
            <a:ext cx="3232896" cy="493414"/>
          </a:xfrm>
          <a:prstGeom prst="rect">
            <a:avLst/>
          </a:prstGeom>
        </p:spPr>
        <p:txBody>
          <a:bodyPr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1885732" y="1802837"/>
            <a:ext cx="8064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i="1" dirty="0"/>
              <a:t>Data Mining Concepts and Techniques-J. Han et al. 3</a:t>
            </a:r>
            <a:r>
              <a:rPr lang="en-US" sz="2400" i="1" baseline="30000" dirty="0"/>
              <a:t>rd</a:t>
            </a:r>
            <a:r>
              <a:rPr lang="en-US" sz="2400" i="1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2054</TotalTime>
  <Words>2366</Words>
  <Application>Microsoft Office PowerPoint</Application>
  <PresentationFormat>Widescreen</PresentationFormat>
  <Paragraphs>391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Cambria Math</vt:lpstr>
      <vt:lpstr>Corbel</vt:lpstr>
      <vt:lpstr>Wingdings</vt:lpstr>
      <vt:lpstr>Spectrum</vt:lpstr>
      <vt:lpstr>AIUB </vt:lpstr>
      <vt:lpstr>What Is an Attribute?</vt:lpstr>
      <vt:lpstr>Nominal Attributes</vt:lpstr>
      <vt:lpstr>Binary Attributes</vt:lpstr>
      <vt:lpstr>PowerPoint Presentation</vt:lpstr>
      <vt:lpstr>Ordinal Attributes</vt:lpstr>
      <vt:lpstr>Numeric Attributes</vt:lpstr>
      <vt:lpstr>PowerPoint Presentation</vt:lpstr>
      <vt:lpstr>PowerPoint Presentation</vt:lpstr>
      <vt:lpstr>Discrete versus Continuous Attributes</vt:lpstr>
      <vt:lpstr>PowerPoint Presentation</vt:lpstr>
      <vt:lpstr>PowerPoint Presentation</vt:lpstr>
      <vt:lpstr>Need for Data Preprocessing</vt:lpstr>
      <vt:lpstr>Benefits of Data Preprocessing</vt:lpstr>
      <vt:lpstr>PowerPoint Presentation</vt:lpstr>
      <vt:lpstr>Data Preprocessing Methods</vt:lpstr>
      <vt:lpstr>Data Cleaning</vt:lpstr>
      <vt:lpstr>Data Cleaning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Statistical Descriptions of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 Shamim Kaiser</cp:lastModifiedBy>
  <cp:revision>64</cp:revision>
  <dcterms:created xsi:type="dcterms:W3CDTF">2018-12-10T17:20:29Z</dcterms:created>
  <dcterms:modified xsi:type="dcterms:W3CDTF">2025-11-02T03:21:17Z</dcterms:modified>
</cp:coreProperties>
</file>